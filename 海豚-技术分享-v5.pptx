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2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37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520440"/>
            <a:ext cx="8229600" cy="13716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运维智能助手桌面端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驱动的 AI 原生桌面应用开发实践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中心技术分享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分享内容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1078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桌面端的需求与挑战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74520" y="13533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运维痛点、技术选型与架构概览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755648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928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87452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— 从需求中诞生的方案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874520" y="21031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技术架构、核心模块、渲染机制、应用场景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2505456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4261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578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874520" y="2578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874520" y="2852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对比分析与效率提升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255264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92424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284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874520" y="3328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874520" y="36027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辅助下从零开始完成开发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4005072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14223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40782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1874520" y="40782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874520" y="43525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5A82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桌面端的需求与挑战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运维痛点、技术选型与架构概览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运维痛点：为什么需要海豚？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桌面端的需求与挑战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87452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重复性事务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大量工单、权限申请等重复操作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消耗运维人力，效率低下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00584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00584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经验依赖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432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问题排查依赖个人经验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知识难以沉淀和传承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00584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1005840"/>
            <a:ext cx="187452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信息孤岛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006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缺乏统一入口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各系统割裂，信息分散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20840" y="100584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20840" y="1005840"/>
            <a:ext cx="187452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1887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难触达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8580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能力无法以交互式界面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直接触达用户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海豚的定位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22960" y="3840480"/>
            <a:ext cx="1737360" cy="45720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0" name="Text 24"/>
          <p:cNvSpPr/>
          <p:nvPr/>
        </p:nvSpPr>
        <p:spPr>
          <a:xfrm>
            <a:off x="914400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440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一个应用覆盖运维全场景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2834640" y="3840480"/>
            <a:ext cx="1737360" cy="45720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3" name="Text 27"/>
          <p:cNvSpPr/>
          <p:nvPr/>
        </p:nvSpPr>
        <p:spPr>
          <a:xfrm>
            <a:off x="2926080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智能交互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292608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自然语言驱动，降低门槛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846320" y="3840480"/>
            <a:ext cx="1737360" cy="45720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6" name="Text 30"/>
          <p:cNvSpPr/>
          <p:nvPr/>
        </p:nvSpPr>
        <p:spPr>
          <a:xfrm>
            <a:off x="4937760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赋能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9377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动态生成界面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858000" y="3840480"/>
            <a:ext cx="1737360" cy="45720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9" name="Text 33"/>
          <p:cNvSpPr/>
          <p:nvPr/>
        </p:nvSpPr>
        <p:spPr>
          <a:xfrm>
            <a:off x="6949440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高效协作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94944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会话全流程线上化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技术选型与架构概览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桌面端的需求与挑战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前端框架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463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Vite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组件库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41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231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Vue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→ JSON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1463040"/>
            <a:ext cx="54864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A2UI 动态渲染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783080"/>
            <a:ext cx="54864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 统一状态管理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103120"/>
            <a:ext cx="54864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+ WebSocket 实时通信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423160"/>
            <a:ext cx="54864" cy="228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404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进程层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主进程管理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" y="3657600"/>
            <a:ext cx="173736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智能聊天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实时对话 + A2UI 表单嵌入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0" y="3657600"/>
            <a:ext cx="173736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3464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全生命周期管理 + 状态追踪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657600"/>
            <a:ext cx="173736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悬浮球与托盘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置顶悬浮球 + 系统托盘集成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3657600"/>
            <a:ext cx="173736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动态渲染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 + 零代码扩展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需求催生方案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→ 02  需求驱动方案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面对这些痛点，我们提出了三个核心问题——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 AI 输出可交互的界面？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A2UI 引擎：JSON Schema → UI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60604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88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679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如何实现对话即界面？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7160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珊瑚系统 + A2UI：动态渲染表单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657600"/>
            <a:ext cx="54864" cy="8686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40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730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如何快速响应业务变化？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7160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零代码扩展：Schema 更新即可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— 从需求中诞生的方案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AI 原生 UI 渲染引擎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87452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应用通过 A2UIRoot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组件渲染 JSON Schema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2606040" y="10058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005840"/>
            <a:ext cx="187452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 JSON 消息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 State / Context / Events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2628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10058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005840"/>
            <a:ext cx="187452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188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消息处理器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006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JSONL 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扁平格式 → 树形结构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8368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6720840" y="100584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20840" y="1005840"/>
            <a:ext cx="187452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1887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渲染器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树形结构 → Vue VNodes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 + 动作执行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17373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2" name="Text 26"/>
          <p:cNvSpPr/>
          <p:nvPr/>
        </p:nvSpPr>
        <p:spPr>
          <a:xfrm>
            <a:off x="1737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834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1089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5" name="Text 29"/>
          <p:cNvSpPr/>
          <p:nvPr/>
        </p:nvSpPr>
        <p:spPr>
          <a:xfrm>
            <a:off x="31089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2062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805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8" name="Text 32"/>
          <p:cNvSpPr/>
          <p:nvPr/>
        </p:nvSpPr>
        <p:spPr>
          <a:xfrm>
            <a:off x="44805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5778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8521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41" name="Text 35"/>
          <p:cNvSpPr/>
          <p:nvPr/>
        </p:nvSpPr>
        <p:spPr>
          <a:xfrm>
            <a:off x="58521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9494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2237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44" name="Text 38"/>
          <p:cNvSpPr/>
          <p:nvPr/>
        </p:nvSpPr>
        <p:spPr>
          <a:xfrm>
            <a:off x="72237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VNodes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Text 41"/>
          <p:cNvSpPr/>
          <p:nvPr/>
        </p:nvSpPr>
        <p:spPr>
          <a:xfrm>
            <a:off x="82296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组件交互关系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核心枢纽：接收珊瑚系统 JSON → MessageProcessor 解析 → Renderer 映射 Vue 组件 → Context 共享状态 → Events 反馈用户操作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核心功能模块详解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解析引擎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JSONL 流式解析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扁平→树形结构转换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增量更新支持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解析延迟 &lt; 5ms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430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动态渲染器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Vue VNodes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组件按需加载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热更新无需刷新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9" name="Text 15"/>
          <p:cNvSpPr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 &lt; 50ms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1430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状态管理器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 共享机制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双向数据绑定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表单数据自动提取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6" name="Text 21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状态同步 &lt; 10ms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2971800"/>
            <a:ext cx="246888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156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事件系统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580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Action 事件分发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跨组件通信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异步操作支持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8580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3" name="Text 27"/>
          <p:cNvSpPr/>
          <p:nvPr/>
        </p:nvSpPr>
        <p:spPr>
          <a:xfrm>
            <a:off x="6858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事件响应 &lt; 3ms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4612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46120" y="297180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1089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4904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38328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布局: Card/Row/Column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表单: TextField/Select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操作: Button/Link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38328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0" name="Text 33"/>
          <p:cNvSpPr/>
          <p:nvPr/>
        </p:nvSpPr>
        <p:spPr>
          <a:xfrm>
            <a:off x="33832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基础组件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9436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5943600" y="297180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108960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465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Playground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0807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 Schema 编辑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所见即所得预览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调试工具集成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7" name="Text 39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在线即用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UI 渲染机制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58827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渲染流程</a:t>
            </a:r>
            <a:endParaRPr lang="en-US" sz="1400" dirty="0"/>
          </a:p>
        </p:txBody>
      </p:sp>
      <p:grpSp>
        <p:nvGrpSpPr>
          <p:cNvPr id="66" name="组合 65"/>
          <p:cNvGrpSpPr/>
          <p:nvPr/>
        </p:nvGrpSpPr>
        <p:grpSpPr>
          <a:xfrm>
            <a:off x="822960" y="1463040"/>
            <a:ext cx="216000" cy="216000"/>
            <a:chOff x="822960" y="1463040"/>
            <a:chExt cx="347472" cy="347472"/>
          </a:xfrm>
        </p:grpSpPr>
        <p:sp>
          <p:nvSpPr>
            <p:cNvPr id="9" name="Shape 7"/>
            <p:cNvSpPr/>
            <p:nvPr/>
          </p:nvSpPr>
          <p:spPr>
            <a:xfrm>
              <a:off x="822960" y="1463040"/>
              <a:ext cx="347472" cy="347472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822960" y="146304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1</a:t>
              </a:r>
              <a:endParaRPr lang="en-US" sz="13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1280160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珊瑚系统输出 JSON Schema</a:t>
            </a:r>
            <a:endParaRPr lang="en-US" sz="1000" dirty="0"/>
          </a:p>
        </p:txBody>
      </p:sp>
      <p:grpSp>
        <p:nvGrpSpPr>
          <p:cNvPr id="67" name="组合 66"/>
          <p:cNvGrpSpPr/>
          <p:nvPr/>
        </p:nvGrpSpPr>
        <p:grpSpPr>
          <a:xfrm>
            <a:off x="822960" y="1737360"/>
            <a:ext cx="216000" cy="216000"/>
            <a:chOff x="822960" y="1737360"/>
            <a:chExt cx="347472" cy="347472"/>
          </a:xfrm>
        </p:grpSpPr>
        <p:sp>
          <p:nvSpPr>
            <p:cNvPr id="12" name="Shape 10"/>
            <p:cNvSpPr/>
            <p:nvPr/>
          </p:nvSpPr>
          <p:spPr>
            <a:xfrm>
              <a:off x="822960" y="1737360"/>
              <a:ext cx="347472" cy="347472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822960" y="173736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2</a:t>
              </a:r>
              <a:endParaRPr lang="en-US" sz="13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1280160" y="1719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解析为树形结构</a:t>
            </a:r>
            <a:endParaRPr lang="en-US" sz="1000" dirty="0"/>
          </a:p>
        </p:txBody>
      </p:sp>
      <p:grpSp>
        <p:nvGrpSpPr>
          <p:cNvPr id="68" name="组合 67"/>
          <p:cNvGrpSpPr/>
          <p:nvPr/>
        </p:nvGrpSpPr>
        <p:grpSpPr>
          <a:xfrm>
            <a:off x="822960" y="2011680"/>
            <a:ext cx="216000" cy="216000"/>
            <a:chOff x="822960" y="2011680"/>
            <a:chExt cx="347472" cy="347472"/>
          </a:xfrm>
        </p:grpSpPr>
        <p:sp>
          <p:nvSpPr>
            <p:cNvPr id="15" name="Shape 13"/>
            <p:cNvSpPr/>
            <p:nvPr/>
          </p:nvSpPr>
          <p:spPr>
            <a:xfrm>
              <a:off x="822960" y="2011680"/>
              <a:ext cx="347472" cy="347472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822960" y="201168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3</a:t>
              </a:r>
              <a:endParaRPr lang="en-US" sz="13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280160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 映射 Vue VNodes</a:t>
            </a:r>
            <a:endParaRPr lang="en-US" sz="1000" dirty="0"/>
          </a:p>
        </p:txBody>
      </p:sp>
      <p:grpSp>
        <p:nvGrpSpPr>
          <p:cNvPr id="69" name="组合 68"/>
          <p:cNvGrpSpPr/>
          <p:nvPr/>
        </p:nvGrpSpPr>
        <p:grpSpPr>
          <a:xfrm>
            <a:off x="822960" y="2286000"/>
            <a:ext cx="216000" cy="216000"/>
            <a:chOff x="822960" y="2286000"/>
            <a:chExt cx="347472" cy="347472"/>
          </a:xfrm>
        </p:grpSpPr>
        <p:sp>
          <p:nvSpPr>
            <p:cNvPr id="18" name="Shape 16"/>
            <p:cNvSpPr/>
            <p:nvPr/>
          </p:nvSpPr>
          <p:spPr>
            <a:xfrm>
              <a:off x="822960" y="2286000"/>
              <a:ext cx="347472" cy="347472"/>
            </a:xfrm>
            <a:prstGeom prst="ellipse">
              <a:avLst/>
            </a:prstGeom>
            <a:solidFill>
              <a:srgbClr val="065A82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822960" y="228600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4</a:t>
              </a:r>
              <a:endParaRPr lang="en-US" sz="13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128016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用户交互 → Action 事件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840480" cy="158827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组件类型</a:t>
            </a:r>
            <a:endParaRPr lang="en-US" sz="1400" dirty="0"/>
          </a:p>
        </p:txBody>
      </p:sp>
      <p:grpSp>
        <p:nvGrpSpPr>
          <p:cNvPr id="70" name="组合 69"/>
          <p:cNvGrpSpPr/>
          <p:nvPr/>
        </p:nvGrpSpPr>
        <p:grpSpPr>
          <a:xfrm>
            <a:off x="5029200" y="1463040"/>
            <a:ext cx="3383280" cy="201168"/>
            <a:chOff x="5029200" y="1463040"/>
            <a:chExt cx="3383280" cy="201168"/>
          </a:xfrm>
        </p:grpSpPr>
        <p:sp>
          <p:nvSpPr>
            <p:cNvPr id="24" name="Shape 22"/>
            <p:cNvSpPr/>
            <p:nvPr/>
          </p:nvSpPr>
          <p:spPr>
            <a:xfrm>
              <a:off x="5029200" y="1463040"/>
              <a:ext cx="640080" cy="201168"/>
            </a:xfrm>
            <a:prstGeom prst="rect">
              <a:avLst/>
            </a:prstGeom>
            <a:solidFill>
              <a:srgbClr val="02C39A">
                <a:alpha val="20000"/>
              </a:srgbClr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5029200" y="1463040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2C39A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布局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760720" y="1463040"/>
              <a:ext cx="2651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Card / Column / Row</a:t>
              </a:r>
              <a:endParaRPr lang="en-US" sz="1000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029200" y="1847088"/>
            <a:ext cx="3383280" cy="201168"/>
            <a:chOff x="5029200" y="1737360"/>
            <a:chExt cx="3383280" cy="201168"/>
          </a:xfrm>
        </p:grpSpPr>
        <p:sp>
          <p:nvSpPr>
            <p:cNvPr id="27" name="Shape 25"/>
            <p:cNvSpPr/>
            <p:nvPr/>
          </p:nvSpPr>
          <p:spPr>
            <a:xfrm>
              <a:off x="5029200" y="1737360"/>
              <a:ext cx="640080" cy="201168"/>
            </a:xfrm>
            <a:prstGeom prst="rect">
              <a:avLst/>
            </a:prstGeom>
            <a:solidFill>
              <a:srgbClr val="02C39A">
                <a:alpha val="20000"/>
              </a:srgbClr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5029200" y="1737360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2C39A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表单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760720" y="1737360"/>
              <a:ext cx="2651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TextField / SelectField / ChoicePicker</a:t>
              </a:r>
              <a:endParaRPr lang="en-US" sz="1000" dirty="0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029200" y="2198717"/>
            <a:ext cx="3383280" cy="201168"/>
            <a:chOff x="5029200" y="2011680"/>
            <a:chExt cx="3383280" cy="201168"/>
          </a:xfrm>
        </p:grpSpPr>
        <p:sp>
          <p:nvSpPr>
            <p:cNvPr id="30" name="Shape 28"/>
            <p:cNvSpPr/>
            <p:nvPr/>
          </p:nvSpPr>
          <p:spPr>
            <a:xfrm>
              <a:off x="5029200" y="2011680"/>
              <a:ext cx="640080" cy="201168"/>
            </a:xfrm>
            <a:prstGeom prst="rect">
              <a:avLst/>
            </a:prstGeom>
            <a:solidFill>
              <a:srgbClr val="02C39A">
                <a:alpha val="20000"/>
              </a:srgbClr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5029200" y="2011680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2C39A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操作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760720" y="2011680"/>
              <a:ext cx="2651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Button 触发 action 事件</a:t>
              </a:r>
              <a:endParaRPr lang="en-US" sz="1000" dirty="0"/>
            </a:p>
          </p:txBody>
        </p:sp>
      </p:grpSp>
      <p:sp>
        <p:nvSpPr>
          <p:cNvPr id="33" name="Shape 31"/>
          <p:cNvSpPr/>
          <p:nvPr/>
        </p:nvSpPr>
        <p:spPr>
          <a:xfrm>
            <a:off x="548640" y="2740422"/>
            <a:ext cx="3840480" cy="20665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740422"/>
            <a:ext cx="54864" cy="20665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2740422"/>
            <a:ext cx="3698332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75871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3106182"/>
            <a:ext cx="3474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// A2UI 表单 Schema 定义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"field": "desc" }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"action": "submit" }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745957"/>
            <a:ext cx="3840480" cy="20665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49062" y="2751201"/>
            <a:ext cx="54864" cy="206654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5058315" y="283186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UI 对应关系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58315" y="319762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2" name="Text 40"/>
          <p:cNvSpPr/>
          <p:nvPr/>
        </p:nvSpPr>
        <p:spPr>
          <a:xfrm>
            <a:off x="5058315" y="319762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75635" y="319762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49955" y="319762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卡片容器组件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58315" y="347194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6" name="Text 44"/>
          <p:cNvSpPr/>
          <p:nvPr/>
        </p:nvSpPr>
        <p:spPr>
          <a:xfrm>
            <a:off x="5058315" y="347194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75635" y="347194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9955" y="34719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文本输入框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58315" y="374626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0" name="Text 48"/>
          <p:cNvSpPr/>
          <p:nvPr/>
        </p:nvSpPr>
        <p:spPr>
          <a:xfrm>
            <a:off x="5058315" y="374626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75635" y="374626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49955" y="374626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操作按钮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58315" y="402058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4" name="Text 52"/>
          <p:cNvSpPr/>
          <p:nvPr/>
        </p:nvSpPr>
        <p:spPr>
          <a:xfrm>
            <a:off x="5058315" y="402058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"props.title"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75635" y="402058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49955" y="402058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卡片标题栏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58315" y="429490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8" name="Text 56"/>
          <p:cNvSpPr/>
          <p:nvPr/>
        </p:nvSpPr>
        <p:spPr>
          <a:xfrm>
            <a:off x="5058315" y="429490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75635" y="429490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49955" y="429490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数据绑定字段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58315" y="4569222"/>
            <a:ext cx="137160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62" name="Text 60"/>
          <p:cNvSpPr/>
          <p:nvPr/>
        </p:nvSpPr>
        <p:spPr>
          <a:xfrm>
            <a:off x="5058315" y="456922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75635" y="456922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49955" y="456922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点击事件处理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Playground 实时预览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097280"/>
            <a:ext cx="48463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216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00584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146304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功能名称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交互式 Playground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操作流程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在左侧编辑 JSON Schema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右侧实时预览渲染结果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修改即时生效，所见即所得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实时解析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组件动态挂载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增量更新渲染引擎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开发调试、Schema 验证、组件测试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应用场景：桌面端实践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识别工单类型后，珊瑚系统输出 JSON Schema，A2UI 实时渲染为工单填写表单，用户在对话中直接提交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网络权限申请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解析权限申请需求，珊瑚系统生成对应 Schema，A2UI 渲染为权限申请表单，包含审批流程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285" y="2057400"/>
            <a:ext cx="3657600" cy="23774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24</a:t>
            </a:r>
            <a:endParaRPr lang="en-US" sz="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2148840"/>
            <a:ext cx="3657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对比分析与效率提升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传统实现方式分析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完整技术流程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产品出需求文档 → 设计出交互稿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前端编写 Vue 模板 + 样式 + 逻辑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后端开发接口 + 数据模型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前后端联调 + 测试 + 修复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部署上线 + 验证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技术栈与成本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+ Element Plus +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高（硬编码表单）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技术难点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动态表单、状态管理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表单硬编码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每个业务场景需单独开发表单组件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794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迭代缓慢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需求变更需修改代码、重新打包部署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794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维护困难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表单逻辑分散，难以统一管理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3794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难集成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静态界面无法承载 AI 动态输出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集成方案优势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架构改进点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替代 Vue 模板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珊瑚系统统一生成 JSON 数据流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运行时动态渲染，无需打包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Schema 标准，集中管理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对话即界面，界面即对话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量化提升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38328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开发效率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70%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表单开发周期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2-4周 → 1-3天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50ms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用户体验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对话式交互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对比总结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开发方式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模板硬编码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动态定义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328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 天/功能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集成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需额外开发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原生支持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高（分散管理）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低（统一 Schema）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以「工单提交」为例：传统 vs A2UI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产品定义工单字段与流程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设计出交互稿、视觉稿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前端编写 Vue 模板 + 表单验证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后端开发工单 API + 数据库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联调 → 测试 → 修复 → 上线</a:t>
            </a:r>
            <a:endParaRPr lang="en-US" sz="1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总耗时：2-4 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AI 识别用户工单需求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珊瑚系统输出工单 JSON Schema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A2UI 引擎实时渲染工单表单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用户在对话中直接填写提交</a:t>
            </a:r>
            <a:endParaRPr lang="en-US" sz="1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总耗时：1-3 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1188720"/>
            <a:ext cx="36576" cy="3108960"/>
          </a:xfrm>
          <a:prstGeom prst="rect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辅助下，从零开始、在不了解相关技术的情况下完成开发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从零开始：需求分析与技术探索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需求分析思考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运维人员需要什么样的 AI 助手？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自然语言交互，降低使用门槛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 AI 输出可交互的界面？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A2UI 引擎，JSON Schema → UI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桌面端还是 Web 端？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桌面端：悬浮球、托盘、原生能力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辅助从零开始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Electron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指导项目初始化和窗口管理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 IPC 通信和 preload 脚本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A2UI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辅助集成 A2UI 引擎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帮助调试样式隔离和数据绑定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从需求到交付的完整流程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辅助学习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原型开发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523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交付上线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关键技术突破与经验教训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051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样式隔离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325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难点：A2UI 组件样式被全局覆盖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方案：::v-deep 精确覆盖 + A2UIForm 统一管理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74520"/>
            <a:ext cx="54864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悬浮球窗口管理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194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难点：多窗口协调、置顶、拖拽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方案：独立 BrowserWindow + IPC + 持久化位置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4320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260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788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消息数据解析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063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难点：后端多种消息格式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方案：统一 parseMessageContent 混合解析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11880"/>
            <a:ext cx="54864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79476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跨进程通信安全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931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难点：Electron 安全策略限制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方案：preload 白名单 + contextIsolation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开发周期与 A2UI 成果展示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40233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822960" cy="640080"/>
          </a:xfrm>
          <a:prstGeom prst="rect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417320"/>
            <a:ext cx="36576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架构+A2UI集成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417320"/>
            <a:ext cx="822960" cy="64008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1417320"/>
            <a:ext cx="36576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3-4周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1645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核心功能开发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1760" y="1417320"/>
            <a:ext cx="822960" cy="64008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1417320"/>
            <a:ext cx="36576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1645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桌面端适配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66160" y="1417320"/>
            <a:ext cx="822960" cy="640080"/>
          </a:xfrm>
          <a:prstGeom prst="rect">
            <a:avLst/>
          </a:prstGeom>
          <a:solidFill>
            <a:srgbClr val="1B2A4A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1417320"/>
            <a:ext cx="36576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7-8周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1645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测试+上线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37744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AI辅助开发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3736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37360" y="237744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从零到交付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5176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237744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AI辅助占比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6616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3-5x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237744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核心成果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1417320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1371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 + Web 端双平台 A2UI 集成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1618488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工单提交、网络权限申请场景落地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181965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1773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JSON → A2UI 渲染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020824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1975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从零开始，AI 辅助 8 周完成交付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28346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" y="28346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2926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海豚桌面端</a:t>
            </a:r>
            <a:endParaRPr lang="en-US" sz="120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200400"/>
            <a:ext cx="3657600" cy="132588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4754880" y="28346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754880" y="2834640"/>
            <a:ext cx="38404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7"/>
          <p:cNvSpPr/>
          <p:nvPr/>
        </p:nvSpPr>
        <p:spPr>
          <a:xfrm>
            <a:off x="5029200" y="2926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辛顿 · 海豚 Web 端</a:t>
            </a:r>
            <a:endParaRPr lang="en-US" sz="120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3200400"/>
            <a:ext cx="1828800" cy="1325880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6560" y="3200400"/>
            <a:ext cx="1828800" cy="13258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24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辅助开发的核心心得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提问比编码更重要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371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精准描述需求，AI 才能给出高质量方案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学会将模糊需求拆解为具体问题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92024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031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渐进式验证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25880" y="2286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不要一次性生成大量代码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每一步验证，快速迭代，降低返工成本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175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理解原理而非复制代码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2588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生成的代码需要理解其原理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知其然更要知其所以然，才能排查问题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749040"/>
            <a:ext cx="54864" cy="7772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319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架构思维不可替代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25880" y="4114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可以写代码，但架构设计需要人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技术选型、模块划分、边界定义仍需人主导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总结与展望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技术演进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原生 UI：AI 直接生成界面，无需人工编码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成为 AI 应用标准交互方式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组件库持续扩展，覆盖更多业务场景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从代码生成走向架构设计辅助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即使不了解技术也能完成开发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协作能力成为核心竞争力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个人成长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从代码实现者向架构设计者转变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AI 协作能力，成为超级个体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持续学习，保持行业敏感度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/ 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Center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1176</Words>
  <Application>Microsoft Office PowerPoint</Application>
  <PresentationFormat>全屏显示(16:9)</PresentationFormat>
  <Paragraphs>446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 - 运维智能助手桌面端</dc:title>
  <dc:subject>PptxGenJS Presentation</dc:subject>
  <dc:creator>AIT Center</dc:creator>
  <cp:lastModifiedBy>hui.chenn(陈辉)</cp:lastModifiedBy>
  <cp:revision>7</cp:revision>
  <dcterms:created xsi:type="dcterms:W3CDTF">2026-05-09T10:01:04Z</dcterms:created>
  <dcterms:modified xsi:type="dcterms:W3CDTF">2026-05-11T01:07:46Z</dcterms:modified>
</cp:coreProperties>
</file>