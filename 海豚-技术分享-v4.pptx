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37160" cy="1371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520440"/>
            <a:ext cx="8229600" cy="13716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海豚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运维智能助手桌面端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驱动的 AI 原生桌面应用开发实践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AIT 中心技术分享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分享内容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54864" cy="64008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430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0789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874520" y="10789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桌面端的需求与挑战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874520" y="13533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运维痛点、技术选型与架构概览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1755648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755648"/>
            <a:ext cx="54864" cy="64008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9280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1828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874520" y="1828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— 从需求中诞生的方案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874520" y="21031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技术架构、核心模块、渲染机制、应用场景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48640" y="2505456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8640" y="2505456"/>
            <a:ext cx="54864" cy="64008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42616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2578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874520" y="2578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传统实现 vs A2UI 方案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874520" y="28529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对比分析与效率提升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48640" y="3255264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48640" y="3255264"/>
            <a:ext cx="54864" cy="64008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92424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25880" y="33284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1874520" y="33284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桌面端也是从 0 到 1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1874520" y="360273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辅助下从零开始完成开发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48640" y="4005072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48640" y="4005072"/>
            <a:ext cx="54864" cy="64008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142232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325880" y="407822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1874520" y="40782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总结与展望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1874520" y="435254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技术演进与未来思考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22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13716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65A82">
                    <a:alpha val="7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桌面端的需求与挑战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运维痛点、技术选型与架构概览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运维痛点与海豚定位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桌面端的需求与挑战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384048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运维痛点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5087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大量重复性事务消耗运维人力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问题排查依赖经验，知识难以沉淀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缺乏统一入口，信息孤岛严重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能力无法以交互式界面触达用户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38404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海豚定位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5087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面向运维人员的智能桌面助手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集成 AI 对话、历史会话、快捷操作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引擎实现对话即界面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珊瑚系统 + A2UI 动态生成交互表单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246120"/>
            <a:ext cx="804672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核心价值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3703320"/>
            <a:ext cx="1737360" cy="54864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721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统一入口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9502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一个应用覆盖运维全场景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834640" y="3703320"/>
            <a:ext cx="1737360" cy="54864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0" y="3721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智能交互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26080" y="39502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自然语言驱动，降低门槛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3703320"/>
            <a:ext cx="1737360" cy="54864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721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赋能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39502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动态生成界面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58000" y="3703320"/>
            <a:ext cx="1737360" cy="54864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3721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高效协作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49440" y="39502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会话全流程线上化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22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技术选型与架构概览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桌面端的需求与挑战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54864" cy="2011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技术选型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前端框架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14630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3 + Vite 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7190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UI 组件库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17190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Element Plus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19751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桌面端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19751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Electron 41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2311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动态渲染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22311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Vue Engine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4871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数据流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珊瑚系统 → JSON Schema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05840"/>
            <a:ext cx="54864" cy="2011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架构分层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0" y="1463040"/>
            <a:ext cx="54864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渲染层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14447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3 + A2UI 动态渲染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0" y="1783080"/>
            <a:ext cx="54864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17647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17647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Pinia 统一状态管理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0" y="2103120"/>
            <a:ext cx="54864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0" y="20848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0" y="20848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API + WebSocket 实时通信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2423160"/>
            <a:ext cx="54864" cy="228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24048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进程层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24048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Electron 主进程管理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324612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22960" y="3337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核心功能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22960" y="3657600"/>
            <a:ext cx="1828800" cy="59436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36758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智能聊天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14400" y="3950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实时对话 + A2UI 表单嵌入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34640" y="3657600"/>
            <a:ext cx="1828800" cy="59436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40" name="Text 38"/>
          <p:cNvSpPr/>
          <p:nvPr/>
        </p:nvSpPr>
        <p:spPr>
          <a:xfrm>
            <a:off x="2926080" y="36758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会话管理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926080" y="3950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全生命周期管理 + 状态追踪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46320" y="3657600"/>
            <a:ext cx="1828800" cy="59436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36758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悬浮球与托盘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37760" y="3950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置顶悬浮球 + 系统托盘集成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58000" y="3657600"/>
            <a:ext cx="1828800" cy="59436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46" name="Text 44"/>
          <p:cNvSpPr/>
          <p:nvPr/>
        </p:nvSpPr>
        <p:spPr>
          <a:xfrm>
            <a:off x="6949440" y="36758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动态渲染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949440" y="3950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Schema 驱动 + 零代码扩展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22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从需求到解决方案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→ 02  需求驱动方案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97280"/>
            <a:ext cx="54864" cy="100584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188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如何让 AI 输出可交互的界面？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1600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 A2UI 引擎：JSON Schema → UI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28600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2286000"/>
            <a:ext cx="54864" cy="100584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688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377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如何实现对话即界面？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371600" y="2788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 珊瑚系统 + A2UI：动态渲染表单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347472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3474720"/>
            <a:ext cx="54864" cy="100584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576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566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如何快速响应业务变化？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371600" y="3977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 零代码扩展：Schema 更新即可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22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137160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C39A">
                    <a:alpha val="7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— 从需求中诞生的方案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Schema 驱动的 AI 原生 UI 渲染引擎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技术架构总览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A2UI 组件系统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1920240" cy="36576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188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16002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应用通过 A2UIRoot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组件渲染 JSON Schema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377440" y="1920240"/>
            <a:ext cx="1828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Shape 9"/>
          <p:cNvSpPr/>
          <p:nvPr/>
        </p:nvSpPr>
        <p:spPr>
          <a:xfrm>
            <a:off x="2560320" y="100584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0" y="1005840"/>
            <a:ext cx="1920240" cy="36576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18872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108960" y="1188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A2UIRoot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697480" y="16002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接收 JSON 消息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 State / Context / Events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480560" y="1920240"/>
            <a:ext cx="1828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Shape 14"/>
          <p:cNvSpPr/>
          <p:nvPr/>
        </p:nvSpPr>
        <p:spPr>
          <a:xfrm>
            <a:off x="4663440" y="100584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63440" y="1005840"/>
            <a:ext cx="1920240" cy="36576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18872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12080" y="1188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消息处理器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800600" y="16002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处理 JSONL 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扁平格式 → 树形结构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583680" y="1920240"/>
            <a:ext cx="1828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Shape 19"/>
          <p:cNvSpPr/>
          <p:nvPr/>
        </p:nvSpPr>
        <p:spPr>
          <a:xfrm>
            <a:off x="6766560" y="100584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766560" y="1005840"/>
            <a:ext cx="1920240" cy="36576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18872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15200" y="1188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渲染器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903720" y="16002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树形结构 → Vue VNodes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数据绑定 + 动作执行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solidFill>
            <a:srgbClr val="E0F0FA"/>
          </a:solidFill>
          <a:ln/>
        </p:spPr>
      </p:sp>
      <p:sp>
        <p:nvSpPr>
          <p:cNvPr id="30" name="Text 24"/>
          <p:cNvSpPr/>
          <p:nvPr/>
        </p:nvSpPr>
        <p:spPr>
          <a:xfrm>
            <a:off x="822960" y="3337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数据流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1737360" y="3364992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32" name="Text 26"/>
          <p:cNvSpPr/>
          <p:nvPr/>
        </p:nvSpPr>
        <p:spPr>
          <a:xfrm>
            <a:off x="173736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珊瑚系统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283464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3108960" y="3364992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35" name="Text 29"/>
          <p:cNvSpPr/>
          <p:nvPr/>
        </p:nvSpPr>
        <p:spPr>
          <a:xfrm>
            <a:off x="310896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Schema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420624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4480560" y="3364992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38" name="Text 32"/>
          <p:cNvSpPr/>
          <p:nvPr/>
        </p:nvSpPr>
        <p:spPr>
          <a:xfrm>
            <a:off x="448056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A2UIRoot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557784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5852160" y="3364992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41" name="Text 35"/>
          <p:cNvSpPr/>
          <p:nvPr/>
        </p:nvSpPr>
        <p:spPr>
          <a:xfrm>
            <a:off x="585216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Renderer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694944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7223760" y="3364992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/>
        </p:spPr>
      </p:sp>
      <p:sp>
        <p:nvSpPr>
          <p:cNvPr id="44" name="Text 38"/>
          <p:cNvSpPr/>
          <p:nvPr/>
        </p:nvSpPr>
        <p:spPr>
          <a:xfrm>
            <a:off x="722376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VNodes</a:t>
            </a:r>
            <a:endParaRPr lang="en-US" sz="800" dirty="0"/>
          </a:p>
        </p:txBody>
      </p:sp>
      <p:sp>
        <p:nvSpPr>
          <p:cNvPr id="45" name="Shape 39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548640" y="3931920"/>
            <a:ext cx="54864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7" name="Text 41"/>
          <p:cNvSpPr/>
          <p:nvPr/>
        </p:nvSpPr>
        <p:spPr>
          <a:xfrm>
            <a:off x="822960" y="3977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组件交互关系</a:t>
            </a:r>
            <a:endParaRPr lang="en-US" sz="1200" dirty="0"/>
          </a:p>
        </p:txBody>
      </p:sp>
      <p:sp>
        <p:nvSpPr>
          <p:cNvPr id="48" name="Text 42"/>
          <p:cNvSpPr/>
          <p:nvPr/>
        </p:nvSpPr>
        <p:spPr>
          <a:xfrm>
            <a:off x="822960" y="42519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A2UIRoot 核心枢纽：接收珊瑚系统 JSON → MessageProcessor 解析 → Renderer 映射 Vue 组件 → Context 共享状态 → Events 反馈用户操作</a:t>
            </a:r>
            <a:endParaRPr lang="en-US" sz="1000" dirty="0"/>
          </a:p>
        </p:txBody>
      </p:sp>
      <p:sp>
        <p:nvSpPr>
          <p:cNvPr id="49" name="Text 4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22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核心功能模块详解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A2UI 组件系统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4688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2468880" cy="36576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1430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Schema 解析引擎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1463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JSONL 流式解析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扁平→树形结构转换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增量更新支持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" y="2331720"/>
            <a:ext cx="2194560" cy="32004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解析延迟 &lt; 5ms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0" y="1005840"/>
            <a:ext cx="24688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1005840"/>
            <a:ext cx="2468880" cy="36576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14300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03320" y="11430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动态渲染器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37560" y="1463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Schema → Vue VNodes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组件按需加载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热更新无需刷新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337560" y="2331720"/>
            <a:ext cx="2194560" cy="32004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19" name="Text 15"/>
          <p:cNvSpPr/>
          <p:nvPr/>
        </p:nvSpPr>
        <p:spPr>
          <a:xfrm>
            <a:off x="333756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首屏渲染 &lt; 50ms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943600" y="1005840"/>
            <a:ext cx="24688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943600" y="1005840"/>
            <a:ext cx="2468880" cy="36576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14300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46520" y="11430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状态管理器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080760" y="1463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Context 共享机制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双向数据绑定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表单数据自动提取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080760" y="2331720"/>
            <a:ext cx="2194560" cy="32004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26" name="Text 21"/>
          <p:cNvSpPr/>
          <p:nvPr/>
        </p:nvSpPr>
        <p:spPr>
          <a:xfrm>
            <a:off x="608076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状态同步 &lt; 10ms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457200" y="2971800"/>
            <a:ext cx="24688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57200" y="2971800"/>
            <a:ext cx="2468880" cy="36576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10896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60120" y="31089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事件系统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94360" y="34290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Action 事件分发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跨组件通信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异步操作支持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594360" y="4297680"/>
            <a:ext cx="2194560" cy="32004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33" name="Text 27"/>
          <p:cNvSpPr/>
          <p:nvPr/>
        </p:nvSpPr>
        <p:spPr>
          <a:xfrm>
            <a:off x="59436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事件响应 &lt; 3ms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3200400" y="2971800"/>
            <a:ext cx="24688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3200400" y="2971800"/>
            <a:ext cx="2468880" cy="36576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108960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703320" y="31089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组件库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3337560" y="34290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布局: Card/Row/Column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表单: TextField/Select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操作: Button/Link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3337560" y="4297680"/>
            <a:ext cx="2194560" cy="32004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40" name="Text 33"/>
          <p:cNvSpPr/>
          <p:nvPr/>
        </p:nvSpPr>
        <p:spPr>
          <a:xfrm>
            <a:off x="333756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30+ 基础组件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5943600" y="2971800"/>
            <a:ext cx="24688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5943600" y="2971800"/>
            <a:ext cx="2468880" cy="36576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3108960"/>
            <a:ext cx="274320" cy="27432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446520" y="31089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Playground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6080760" y="34290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 Schema 编辑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所见即所得预览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调试工具集成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6080760" y="4297680"/>
            <a:ext cx="2194560" cy="32004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47" name="Text 39"/>
          <p:cNvSpPr/>
          <p:nvPr/>
        </p:nvSpPr>
        <p:spPr>
          <a:xfrm>
            <a:off x="608076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在线即用</a:t>
            </a:r>
            <a:endParaRPr lang="en-US" sz="1000" dirty="0"/>
          </a:p>
        </p:txBody>
      </p:sp>
      <p:sp>
        <p:nvSpPr>
          <p:cNvPr id="48" name="Text 40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22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Schema 驱动的 UI 渲染机制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A2UI 组件系统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3840480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渲染流程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146304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14447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珊瑚系统输出 JSON Schema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173736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17190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A2UIRoot 解析为树形结构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201168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19933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Renderer 映射 Vue VNodes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228600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22677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用户交互 → Action 事件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05840"/>
            <a:ext cx="38404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组件类型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0" y="1463040"/>
            <a:ext cx="640080" cy="201168"/>
          </a:xfrm>
          <a:prstGeom prst="rect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1463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布局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60720" y="14630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Card / Column / Row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0" y="1737360"/>
            <a:ext cx="640080" cy="201168"/>
          </a:xfrm>
          <a:prstGeom prst="rect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17373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表单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60720" y="17373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TextField / SelectField / ChoicePicker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0" y="2011680"/>
            <a:ext cx="640080" cy="201168"/>
          </a:xfrm>
          <a:prstGeom prst="rect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2011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60720" y="20116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Button 触发 action 事件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2560320"/>
            <a:ext cx="45720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2560320"/>
            <a:ext cx="54864" cy="2194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Shape 33"/>
          <p:cNvSpPr/>
          <p:nvPr/>
        </p:nvSpPr>
        <p:spPr>
          <a:xfrm>
            <a:off x="603504" y="2560320"/>
            <a:ext cx="4462272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2578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Schema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" y="292608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A2UI 表单 Schema 定义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"Card",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"props": { "title": "运维工单"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"children":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"TextField",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"props":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"label": "问题描述",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"field": "desc" }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"Button",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"props":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"label": "提交",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"action": "submit" }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120640" y="2560320"/>
            <a:ext cx="34747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120640" y="2560320"/>
            <a:ext cx="54864" cy="2194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0" name="Text 38"/>
          <p:cNvSpPr/>
          <p:nvPr/>
        </p:nvSpPr>
        <p:spPr>
          <a:xfrm>
            <a:off x="5394960" y="2651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Schema → UI 对应关系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394960" y="3017520"/>
            <a:ext cx="1463040" cy="201168"/>
          </a:xfrm>
          <a:prstGeom prst="rect">
            <a:avLst/>
          </a:prstGeom>
          <a:solidFill>
            <a:srgbClr val="E0F0FA"/>
          </a:solidFill>
          <a:ln/>
        </p:spPr>
      </p:sp>
      <p:sp>
        <p:nvSpPr>
          <p:cNvPr id="42" name="Text 40"/>
          <p:cNvSpPr/>
          <p:nvPr/>
        </p:nvSpPr>
        <p:spPr>
          <a:xfrm>
            <a:off x="5394960" y="3017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"Card"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903720" y="301752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78040" y="30175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卡片容器组件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94960" y="3291840"/>
            <a:ext cx="1463040" cy="201168"/>
          </a:xfrm>
          <a:prstGeom prst="rect">
            <a:avLst/>
          </a:prstGeom>
          <a:solidFill>
            <a:srgbClr val="E0F0FA"/>
          </a:solidFill>
          <a:ln/>
        </p:spPr>
      </p:sp>
      <p:sp>
        <p:nvSpPr>
          <p:cNvPr id="46" name="Text 44"/>
          <p:cNvSpPr/>
          <p:nvPr/>
        </p:nvSpPr>
        <p:spPr>
          <a:xfrm>
            <a:off x="5394960" y="32918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"TextField"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903720" y="32918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178040" y="32918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文本输入框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394960" y="3566160"/>
            <a:ext cx="1463040" cy="201168"/>
          </a:xfrm>
          <a:prstGeom prst="rect">
            <a:avLst/>
          </a:prstGeom>
          <a:solidFill>
            <a:srgbClr val="E0F0FA"/>
          </a:solidFill>
          <a:ln/>
        </p:spPr>
      </p:sp>
      <p:sp>
        <p:nvSpPr>
          <p:cNvPr id="50" name="Text 48"/>
          <p:cNvSpPr/>
          <p:nvPr/>
        </p:nvSpPr>
        <p:spPr>
          <a:xfrm>
            <a:off x="5394960" y="35661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"Button"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903720" y="356616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178040" y="35661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操作按钮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394960" y="3840480"/>
            <a:ext cx="1463040" cy="201168"/>
          </a:xfrm>
          <a:prstGeom prst="rect">
            <a:avLst/>
          </a:prstGeom>
          <a:solidFill>
            <a:srgbClr val="E0F0FA"/>
          </a:solidFill>
          <a:ln/>
        </p:spPr>
      </p:sp>
      <p:sp>
        <p:nvSpPr>
          <p:cNvPr id="54" name="Text 52"/>
          <p:cNvSpPr/>
          <p:nvPr/>
        </p:nvSpPr>
        <p:spPr>
          <a:xfrm>
            <a:off x="5394960" y="38404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"props.title"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903720" y="38404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178040" y="38404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卡片标题栏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394960" y="4114800"/>
            <a:ext cx="1463040" cy="201168"/>
          </a:xfrm>
          <a:prstGeom prst="rect">
            <a:avLst/>
          </a:prstGeom>
          <a:solidFill>
            <a:srgbClr val="E0F0FA"/>
          </a:solidFill>
          <a:ln/>
        </p:spPr>
      </p:sp>
      <p:sp>
        <p:nvSpPr>
          <p:cNvPr id="58" name="Text 56"/>
          <p:cNvSpPr/>
          <p:nvPr/>
        </p:nvSpPr>
        <p:spPr>
          <a:xfrm>
            <a:off x="5394960" y="41148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"props.field"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903720" y="41148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178040" y="41148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数据绑定字段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394960" y="4389120"/>
            <a:ext cx="1463040" cy="201168"/>
          </a:xfrm>
          <a:prstGeom prst="rect">
            <a:avLst/>
          </a:prstGeom>
          <a:solidFill>
            <a:srgbClr val="E0F0FA"/>
          </a:solidFill>
          <a:ln/>
        </p:spPr>
      </p:sp>
      <p:sp>
        <p:nvSpPr>
          <p:cNvPr id="62" name="Text 60"/>
          <p:cNvSpPr/>
          <p:nvPr/>
        </p:nvSpPr>
        <p:spPr>
          <a:xfrm>
            <a:off x="5394960" y="4389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"props.action"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903720" y="438912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178040" y="43891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点击事件处理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22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Playground 实时预览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A2UI 组件系统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53035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097280"/>
            <a:ext cx="512064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35040" y="1005840"/>
            <a:ext cx="29260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035040" y="1005840"/>
            <a:ext cx="29260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6309360" y="1143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功能说明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09360" y="1463040"/>
            <a:ext cx="2468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功能名称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交互式 Playground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操作流程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在左侧编辑 JSON Schema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右侧实时预览渲染结果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修改即时生效，所见即所得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核心技术点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Schema 实时解析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组件动态挂载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增量更新渲染引擎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应用场景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开发调试、Schema 验证、组件测试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22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应用场景：桌面端实践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A2UI 组件系统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402336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工单提交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识别工单类型后，珊瑚系统输出 JSON Schema，A2UI 实时渲染为工单填写表单，用户在对话中直接提交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103120"/>
            <a:ext cx="3657600" cy="23774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663440" y="100584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005840"/>
            <a:ext cx="402336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网络权限申请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937760" y="1463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解析权限申请需求，珊瑚系统生成对应 Schema，A2UI 渲染为权限申请表单，包含审批流程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2103120"/>
            <a:ext cx="3657600" cy="23774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22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137160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C39A">
                    <a:alpha val="7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传统实现 vs A2UI 方案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对比分析与效率提升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传统实现方式分析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传统实现 vs A2UI 方案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384048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完整技术流程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产品出需求文档 → 设计出交互稿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前端编写 Vue 模板 + 样式 + 逻辑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后端开发接口 + 数据模型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前后端联调 + 测试 + 修复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 部署上线 + 验证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840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38404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技术栈与成本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463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1463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+ Element Plus + API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开发周期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1828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2-4 周/功能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194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维护成本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高（硬编码表单）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2560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技术难点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动态表单、状态管理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383280"/>
            <a:ext cx="54864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核心痛点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3794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表单硬编码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每个业务场景需单独开发表单组件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34640" y="3794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迭代缓慢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464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需求变更需修改代码、重新打包部署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3794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维护困难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表单逻辑分散，难以统一管理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8000" y="3794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难集成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静态界面无法承载 AI 动态输出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22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集成方案优势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传统实现 vs A2UI 方案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38404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架构改进点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Schema 替代 Vue 模板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珊瑚系统统一生成 JSON 数据流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运行时动态渲染，无需打包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 Schema 标准，集中管理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对话即界面，界面即对话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840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38404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量化提升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1463040"/>
            <a:ext cx="3383280" cy="32004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开发效率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提升 70%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1874520"/>
            <a:ext cx="3383280" cy="3200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表单开发周期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2-4周 → 1-3天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2286000"/>
            <a:ext cx="3383280" cy="3200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首屏渲染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&lt; 50ms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2697480"/>
            <a:ext cx="3383280" cy="3200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2697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用户体验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对话式交互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38328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对比总结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374904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维度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374904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传统实现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0" y="374904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方案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" y="390448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开发方式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83280" y="390448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模板硬编码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43600" y="390448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Schema 动态定义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2960" y="405993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开发周期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83280" y="405993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2-4 周/功能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943600" y="405993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1-3 天/功能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2960" y="421538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集成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383280" y="421538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需额外开发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943600" y="421538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原生支持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22960" y="437083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维护成本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83280" y="437083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高（分散管理）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943600" y="437083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低（统一 Schema）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22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137160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C39A">
                    <a:alpha val="7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桌面端也是从 0 到 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辅助下，从零开始、在不了解相关技术的情况下完成开发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从零开始：需求分析与技术探索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桌面端也是从 0 到 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3840480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需求分析思考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运维人员需要什么样的 AI 助手？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自然语言交互，降低使用门槛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如何让 AI 输出可交互的界面？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A2UI 引擎，JSON Schema → UI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桌面端还是 Web 端？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桌面端：悬浮球、托盘、原生能力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38404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辅助从零开始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4630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在不了解 Electron 的情况下：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指导项目初始化和窗口管理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生成 IPC 通信和 preload 脚本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在不了解 A2UI 的情况下：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辅助集成 A2UI 引擎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帮助调试样式隔离和数据绑定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3566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从需求到交付的完整流程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388620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86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需求理解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20240" y="3886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48840" y="388620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2148840" y="3886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辅助学习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46120" y="3886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0" y="388620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3886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架构设计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3886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88620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886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原型开发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97880" y="3886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388620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3886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迭代优化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23760" y="3886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52360" y="388620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7452360" y="3886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交付上线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22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关键技术突破与经验教训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桌面端也是从 0 到 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54864" cy="7498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188720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0515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样式隔离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3258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难点：A2UI 组件样式被全局覆盖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方案：::v-deep 精确覆盖 + A2UIForm 统一管理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187452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1874520"/>
            <a:ext cx="54864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2057400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057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19202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悬浮球窗口管理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1945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难点：多窗口协调、置顶、拖拽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方案：独立 BrowserWindow + IPC + 持久化位置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743200"/>
            <a:ext cx="54864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292608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27889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消息数据解析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0632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难点：后端多种消息格式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方案：统一 parseMessageContent 混合解析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61188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611880"/>
            <a:ext cx="54864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Shape 24"/>
          <p:cNvSpPr/>
          <p:nvPr/>
        </p:nvSpPr>
        <p:spPr>
          <a:xfrm>
            <a:off x="822960" y="3794760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71600" y="36576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跨进程通信安全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71600" y="39319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难点：Electron 安全策略限制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方案：preload 白名单 + contextIsolation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 / 22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开发周期与 A2UI 成果展示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桌面端也是从 0 到 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4023360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97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开发周期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417320"/>
            <a:ext cx="822960" cy="731520"/>
          </a:xfrm>
          <a:prstGeom prst="rect">
            <a:avLst/>
          </a:prstGeom>
          <a:solidFill>
            <a:srgbClr val="02C39A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1417320"/>
            <a:ext cx="36576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4356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1-2周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166420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架构+A2UI集成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737360" y="1417320"/>
            <a:ext cx="822960" cy="731520"/>
          </a:xfrm>
          <a:prstGeom prst="rect">
            <a:avLst/>
          </a:prstGeom>
          <a:solidFill>
            <a:srgbClr val="1C7293">
              <a:alpha val="1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737360" y="1417320"/>
            <a:ext cx="36576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14356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3-4周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0" y="166420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核心功能开发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651760" y="1417320"/>
            <a:ext cx="822960" cy="731520"/>
          </a:xfrm>
          <a:prstGeom prst="rect">
            <a:avLst/>
          </a:prstGeom>
          <a:solidFill>
            <a:srgbClr val="065A82">
              <a:alpha val="1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651760" y="1417320"/>
            <a:ext cx="36576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14356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5-6周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0" y="166420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桌面端适配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566160" y="1417320"/>
            <a:ext cx="822960" cy="731520"/>
          </a:xfrm>
          <a:prstGeom prst="rect">
            <a:avLst/>
          </a:prstGeom>
          <a:solidFill>
            <a:srgbClr val="1B2A4A">
              <a:alpha val="1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566160" y="1417320"/>
            <a:ext cx="36576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14356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7-8周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0" y="166420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测试+上线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" y="22402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1人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2423160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AI辅助开发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737360" y="22402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8周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737360" y="2423160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从零到交付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651760" y="22402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51760" y="2423160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AI辅助占比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566160" y="22402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3-5x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66160" y="2423160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效率提升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754880" y="100584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1005840"/>
            <a:ext cx="38404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10972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核心成果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029200" y="1417320"/>
            <a:ext cx="109728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7" name="Text 35"/>
          <p:cNvSpPr/>
          <p:nvPr/>
        </p:nvSpPr>
        <p:spPr>
          <a:xfrm>
            <a:off x="5257800" y="13716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桌面端 + Web 端双平台 A2UI 集成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29200" y="1618488"/>
            <a:ext cx="109728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9" name="Text 37"/>
          <p:cNvSpPr/>
          <p:nvPr/>
        </p:nvSpPr>
        <p:spPr>
          <a:xfrm>
            <a:off x="5257800" y="1572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工单提交、网络权限申请场景落地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0" y="1819656"/>
            <a:ext cx="109728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1" name="Text 39"/>
          <p:cNvSpPr/>
          <p:nvPr/>
        </p:nvSpPr>
        <p:spPr>
          <a:xfrm>
            <a:off x="5257800" y="177393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珊瑚系统 JSON → A2UI 渲染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0" y="2020824"/>
            <a:ext cx="109728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3" name="Text 41"/>
          <p:cNvSpPr/>
          <p:nvPr/>
        </p:nvSpPr>
        <p:spPr>
          <a:xfrm>
            <a:off x="5257800" y="19751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从零开始，AI 辅助 8 周完成交付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260604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57200" y="2606040"/>
            <a:ext cx="402336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2697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海豚桌面端</a:t>
            </a:r>
            <a:endParaRPr lang="en-US" sz="1200" dirty="0"/>
          </a:p>
        </p:txBody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971800"/>
            <a:ext cx="3657600" cy="1508760"/>
          </a:xfrm>
          <a:prstGeom prst="rect">
            <a:avLst/>
          </a:prstGeom>
        </p:spPr>
      </p:pic>
      <p:sp>
        <p:nvSpPr>
          <p:cNvPr id="48" name="Shape 45"/>
          <p:cNvSpPr/>
          <p:nvPr/>
        </p:nvSpPr>
        <p:spPr>
          <a:xfrm>
            <a:off x="4663440" y="260604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4663440" y="2606040"/>
            <a:ext cx="402336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0" name="Text 47"/>
          <p:cNvSpPr/>
          <p:nvPr/>
        </p:nvSpPr>
        <p:spPr>
          <a:xfrm>
            <a:off x="4937760" y="2697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辛顿 · 海豚 Web 端</a:t>
            </a:r>
            <a:endParaRPr lang="en-US" sz="1200" dirty="0"/>
          </a:p>
        </p:txBody>
      </p:sp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2971800"/>
            <a:ext cx="1828800" cy="1508760"/>
          </a:xfrm>
          <a:prstGeom prst="rect">
            <a:avLst/>
          </a:prstGeom>
        </p:spPr>
      </p:pic>
      <p:pic>
        <p:nvPicPr>
          <p:cNvPr id="5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66560" y="2971800"/>
            <a:ext cx="1828800" cy="1508760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 / 22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137160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C39A">
                    <a:alpha val="7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总结与展望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技术演进与未来思考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技术演进与未来思考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 总结与展望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4688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2468880" cy="36576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技术演进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16459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原生 UI：AI 直接生成界面，无需人工编码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Schema 成为 AI 应用标准交互方式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组件库持续扩展，覆盖更多业务场景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005840"/>
            <a:ext cx="24688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005840"/>
            <a:ext cx="2468880" cy="36576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1887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49040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337560" y="16459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从代码生成走向架构设计辅助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即使不了解技术也能完成开发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协作能力成为核心竞争力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943600" y="1005840"/>
            <a:ext cx="24688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43600" y="1005840"/>
            <a:ext cx="2468880" cy="36576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1887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2240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个人成长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080760" y="16459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从代码实现者向架构设计者转变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提升 AI 协作能力，成为超级个体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持续学习，保持行业敏感度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 / 22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256032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 &amp; 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AIT Center  |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海豚 - 运维智能助手桌面端</dc:title>
  <dc:subject>PptxGenJS Presentation</dc:subject>
  <dc:creator>AIT Center</dc:creator>
  <cp:lastModifiedBy>AIT Center</cp:lastModifiedBy>
  <cp:revision>1</cp:revision>
  <dcterms:created xsi:type="dcterms:W3CDTF">2026-05-09T09:11:03Z</dcterms:created>
  <dcterms:modified xsi:type="dcterms:W3CDTF">2026-05-09T09:11:03Z</dcterms:modified>
</cp:coreProperties>
</file>