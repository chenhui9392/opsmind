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920240"/>
            <a:ext cx="137160" cy="13716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520440"/>
            <a:ext cx="8229600" cy="13716"/>
          </a:xfrm>
          <a:prstGeom prst="rect">
            <a:avLst/>
          </a:prstGeom>
          <a:solidFill>
            <a:srgbClr val="1C7293">
              <a:alpha val="4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365760"/>
            <a:ext cx="73152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2801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海豚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457200" y="20116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运维智能助手桌面端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A2UI 驱动的 AI 原生桌面应用开发实践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AIT 中心技术分享  |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分享内容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73152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097280"/>
            <a:ext cx="804672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097280"/>
            <a:ext cx="54864" cy="731520"/>
          </a:xfrm>
          <a:prstGeom prst="rect">
            <a:avLst/>
          </a:prstGeom>
          <a:solidFill>
            <a:srgbClr val="02C39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261872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1887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2011680" y="1188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A2UI 组件系统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2011680" y="1490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技术架构、核心模块、渲染机制、应用场景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" y="1965960"/>
            <a:ext cx="804672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48640" y="1965960"/>
            <a:ext cx="54864" cy="731520"/>
          </a:xfrm>
          <a:prstGeom prst="rect">
            <a:avLst/>
          </a:prstGeom>
          <a:solidFill>
            <a:srgbClr val="1C7293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130552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371600" y="20574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2011680" y="2057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传统实现 vs A2UI 方案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2011680" y="23591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对比分析、效率提升、性能优化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548640" y="2834640"/>
            <a:ext cx="804672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48640" y="2834640"/>
            <a:ext cx="54864" cy="731520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999232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371600" y="2926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2000" dirty="0"/>
          </a:p>
        </p:txBody>
      </p:sp>
      <p:sp>
        <p:nvSpPr>
          <p:cNvPr id="21" name="Text 16"/>
          <p:cNvSpPr/>
          <p:nvPr/>
        </p:nvSpPr>
        <p:spPr>
          <a:xfrm>
            <a:off x="2011680" y="2926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桌面端也是从 0 到 1</a:t>
            </a:r>
            <a:endParaRPr lang="en-US" sz="1800" dirty="0"/>
          </a:p>
        </p:txBody>
      </p:sp>
      <p:sp>
        <p:nvSpPr>
          <p:cNvPr id="22" name="Text 17"/>
          <p:cNvSpPr/>
          <p:nvPr/>
        </p:nvSpPr>
        <p:spPr>
          <a:xfrm>
            <a:off x="2011680" y="32278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辅助下从零开始完成桌面端开发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548640" y="3703320"/>
            <a:ext cx="804672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548640" y="3703320"/>
            <a:ext cx="54864" cy="731520"/>
          </a:xfrm>
          <a:prstGeom prst="rect">
            <a:avLst/>
          </a:prstGeom>
          <a:solidFill>
            <a:srgbClr val="1B2A4A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867912"/>
            <a:ext cx="365760" cy="3657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371600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2000" dirty="0"/>
          </a:p>
        </p:txBody>
      </p:sp>
      <p:sp>
        <p:nvSpPr>
          <p:cNvPr id="27" name="Text 21"/>
          <p:cNvSpPr/>
          <p:nvPr/>
        </p:nvSpPr>
        <p:spPr>
          <a:xfrm>
            <a:off x="2011680" y="3794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总结与展望</a:t>
            </a:r>
            <a:endParaRPr lang="en-US" sz="1800" dirty="0"/>
          </a:p>
        </p:txBody>
      </p:sp>
      <p:sp>
        <p:nvSpPr>
          <p:cNvPr id="28" name="Text 22"/>
          <p:cNvSpPr/>
          <p:nvPr/>
        </p:nvSpPr>
        <p:spPr>
          <a:xfrm>
            <a:off x="2011680" y="409651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技术演进与未来思考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 / 22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286000"/>
            <a:ext cx="137160" cy="10972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2C39A">
                    <a:alpha val="70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22860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A2UI 组件系统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2926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JSON Schema 驱动的 AI 原生 UI 渲染引擎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9144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A2UI 技术架构总览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73152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846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 A2UI 组件系统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192024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05840"/>
            <a:ext cx="1920240" cy="36576"/>
          </a:xfrm>
          <a:prstGeom prst="rect">
            <a:avLst/>
          </a:prstGeom>
          <a:solidFill>
            <a:srgbClr val="02C39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18872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05840" y="11887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应用层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94360" y="160020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Vue 应用通过 A2UIRoot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组件渲染 JSON Schema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377440" y="1920240"/>
            <a:ext cx="18288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2" name="Shape 9"/>
          <p:cNvSpPr/>
          <p:nvPr/>
        </p:nvSpPr>
        <p:spPr>
          <a:xfrm>
            <a:off x="2560320" y="1005840"/>
            <a:ext cx="192024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560320" y="1005840"/>
            <a:ext cx="1920240" cy="36576"/>
          </a:xfrm>
          <a:prstGeom prst="rect">
            <a:avLst/>
          </a:prstGeom>
          <a:solidFill>
            <a:srgbClr val="1C7293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7480" y="1188720"/>
            <a:ext cx="320040" cy="3200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108960" y="11887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A2UIRoot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2697480" y="160020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接收 JSON 消息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管理 State / Context / Events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4480560" y="1920240"/>
            <a:ext cx="18288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8" name="Shape 14"/>
          <p:cNvSpPr/>
          <p:nvPr/>
        </p:nvSpPr>
        <p:spPr>
          <a:xfrm>
            <a:off x="4663440" y="1005840"/>
            <a:ext cx="192024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663440" y="1005840"/>
            <a:ext cx="1920240" cy="36576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188720"/>
            <a:ext cx="320040" cy="32004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212080" y="11887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消息处理器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4800600" y="160020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处理 JSONL 流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扁平格式 → 树形结构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6583680" y="1920240"/>
            <a:ext cx="18288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4" name="Shape 19"/>
          <p:cNvSpPr/>
          <p:nvPr/>
        </p:nvSpPr>
        <p:spPr>
          <a:xfrm>
            <a:off x="6766560" y="1005840"/>
            <a:ext cx="192024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766560" y="1005840"/>
            <a:ext cx="1920240" cy="36576"/>
          </a:xfrm>
          <a:prstGeom prst="rect">
            <a:avLst/>
          </a:prstGeom>
          <a:solidFill>
            <a:srgbClr val="1B2A4A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0" y="1188720"/>
            <a:ext cx="320040" cy="32004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315200" y="11887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渲染器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6903720" y="160020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树形结构 → Vue VNodes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数据绑定 + 动作执行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548640" y="3291840"/>
            <a:ext cx="8046720" cy="457200"/>
          </a:xfrm>
          <a:prstGeom prst="rect">
            <a:avLst/>
          </a:prstGeom>
          <a:solidFill>
            <a:srgbClr val="E0F0FA"/>
          </a:solidFill>
          <a:ln/>
        </p:spPr>
      </p:sp>
      <p:sp>
        <p:nvSpPr>
          <p:cNvPr id="30" name="Text 24"/>
          <p:cNvSpPr/>
          <p:nvPr/>
        </p:nvSpPr>
        <p:spPr>
          <a:xfrm>
            <a:off x="822960" y="33375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数据流</a:t>
            </a:r>
            <a:endParaRPr lang="en-US" sz="1200" dirty="0"/>
          </a:p>
        </p:txBody>
      </p:sp>
      <p:sp>
        <p:nvSpPr>
          <p:cNvPr id="31" name="Shape 25"/>
          <p:cNvSpPr/>
          <p:nvPr/>
        </p:nvSpPr>
        <p:spPr>
          <a:xfrm>
            <a:off x="1737360" y="3364992"/>
            <a:ext cx="1097280" cy="274320"/>
          </a:xfrm>
          <a:prstGeom prst="roundRect">
            <a:avLst>
              <a:gd name="adj" fmla="val 16667"/>
            </a:avLst>
          </a:prstGeom>
          <a:solidFill>
            <a:srgbClr val="02C39A"/>
          </a:solidFill>
          <a:ln/>
        </p:spPr>
      </p:sp>
      <p:sp>
        <p:nvSpPr>
          <p:cNvPr id="32" name="Text 26"/>
          <p:cNvSpPr/>
          <p:nvPr/>
        </p:nvSpPr>
        <p:spPr>
          <a:xfrm>
            <a:off x="1737360" y="33649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JSON Schema</a:t>
            </a:r>
            <a:endParaRPr lang="en-US" sz="800" dirty="0"/>
          </a:p>
        </p:txBody>
      </p:sp>
      <p:sp>
        <p:nvSpPr>
          <p:cNvPr id="33" name="Text 27"/>
          <p:cNvSpPr/>
          <p:nvPr/>
        </p:nvSpPr>
        <p:spPr>
          <a:xfrm>
            <a:off x="2834640" y="33649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1000" dirty="0"/>
          </a:p>
        </p:txBody>
      </p:sp>
      <p:sp>
        <p:nvSpPr>
          <p:cNvPr id="34" name="Shape 28"/>
          <p:cNvSpPr/>
          <p:nvPr/>
        </p:nvSpPr>
        <p:spPr>
          <a:xfrm>
            <a:off x="3108960" y="3364992"/>
            <a:ext cx="1097280" cy="274320"/>
          </a:xfrm>
          <a:prstGeom prst="roundRect">
            <a:avLst>
              <a:gd name="adj" fmla="val 16667"/>
            </a:avLst>
          </a:prstGeom>
          <a:solidFill>
            <a:srgbClr val="1C7293"/>
          </a:solidFill>
          <a:ln/>
        </p:spPr>
      </p:sp>
      <p:sp>
        <p:nvSpPr>
          <p:cNvPr id="35" name="Text 29"/>
          <p:cNvSpPr/>
          <p:nvPr/>
        </p:nvSpPr>
        <p:spPr>
          <a:xfrm>
            <a:off x="3108960" y="33649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A2UIRoot</a:t>
            </a:r>
            <a:endParaRPr lang="en-US" sz="800" dirty="0"/>
          </a:p>
        </p:txBody>
      </p:sp>
      <p:sp>
        <p:nvSpPr>
          <p:cNvPr id="36" name="Text 30"/>
          <p:cNvSpPr/>
          <p:nvPr/>
        </p:nvSpPr>
        <p:spPr>
          <a:xfrm>
            <a:off x="4206240" y="33649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1000" dirty="0"/>
          </a:p>
        </p:txBody>
      </p:sp>
      <p:sp>
        <p:nvSpPr>
          <p:cNvPr id="37" name="Shape 31"/>
          <p:cNvSpPr/>
          <p:nvPr/>
        </p:nvSpPr>
        <p:spPr>
          <a:xfrm>
            <a:off x="4480560" y="3364992"/>
            <a:ext cx="1097280" cy="274320"/>
          </a:xfrm>
          <a:prstGeom prst="roundRect">
            <a:avLst>
              <a:gd name="adj" fmla="val 16667"/>
            </a:avLst>
          </a:prstGeom>
          <a:solidFill>
            <a:srgbClr val="1C7293"/>
          </a:solidFill>
          <a:ln/>
        </p:spPr>
      </p:sp>
      <p:sp>
        <p:nvSpPr>
          <p:cNvPr id="38" name="Text 32"/>
          <p:cNvSpPr/>
          <p:nvPr/>
        </p:nvSpPr>
        <p:spPr>
          <a:xfrm>
            <a:off x="4480560" y="33649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MessageProcessor</a:t>
            </a:r>
            <a:endParaRPr lang="en-US" sz="800" dirty="0"/>
          </a:p>
        </p:txBody>
      </p:sp>
      <p:sp>
        <p:nvSpPr>
          <p:cNvPr id="39" name="Text 33"/>
          <p:cNvSpPr/>
          <p:nvPr/>
        </p:nvSpPr>
        <p:spPr>
          <a:xfrm>
            <a:off x="5577840" y="33649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1000" dirty="0"/>
          </a:p>
        </p:txBody>
      </p:sp>
      <p:sp>
        <p:nvSpPr>
          <p:cNvPr id="40" name="Shape 34"/>
          <p:cNvSpPr/>
          <p:nvPr/>
        </p:nvSpPr>
        <p:spPr>
          <a:xfrm>
            <a:off x="5852160" y="3364992"/>
            <a:ext cx="1097280" cy="274320"/>
          </a:xfrm>
          <a:prstGeom prst="roundRect">
            <a:avLst>
              <a:gd name="adj" fmla="val 16667"/>
            </a:avLst>
          </a:prstGeom>
          <a:solidFill>
            <a:srgbClr val="1C7293"/>
          </a:solidFill>
          <a:ln/>
        </p:spPr>
      </p:sp>
      <p:sp>
        <p:nvSpPr>
          <p:cNvPr id="41" name="Text 35"/>
          <p:cNvSpPr/>
          <p:nvPr/>
        </p:nvSpPr>
        <p:spPr>
          <a:xfrm>
            <a:off x="5852160" y="33649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Renderer</a:t>
            </a:r>
            <a:endParaRPr lang="en-US" sz="800" dirty="0"/>
          </a:p>
        </p:txBody>
      </p:sp>
      <p:sp>
        <p:nvSpPr>
          <p:cNvPr id="42" name="Text 36"/>
          <p:cNvSpPr/>
          <p:nvPr/>
        </p:nvSpPr>
        <p:spPr>
          <a:xfrm>
            <a:off x="6949440" y="33649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1000" dirty="0"/>
          </a:p>
        </p:txBody>
      </p:sp>
      <p:sp>
        <p:nvSpPr>
          <p:cNvPr id="43" name="Shape 37"/>
          <p:cNvSpPr/>
          <p:nvPr/>
        </p:nvSpPr>
        <p:spPr>
          <a:xfrm>
            <a:off x="7223760" y="3364992"/>
            <a:ext cx="1097280" cy="274320"/>
          </a:xfrm>
          <a:prstGeom prst="roundRect">
            <a:avLst>
              <a:gd name="adj" fmla="val 16667"/>
            </a:avLst>
          </a:prstGeom>
          <a:solidFill>
            <a:srgbClr val="1B2A4A"/>
          </a:solidFill>
          <a:ln/>
        </p:spPr>
      </p:sp>
      <p:sp>
        <p:nvSpPr>
          <p:cNvPr id="44" name="Text 38"/>
          <p:cNvSpPr/>
          <p:nvPr/>
        </p:nvSpPr>
        <p:spPr>
          <a:xfrm>
            <a:off x="7223760" y="33649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Vue VNodes</a:t>
            </a:r>
            <a:endParaRPr lang="en-US" sz="800" dirty="0"/>
          </a:p>
        </p:txBody>
      </p:sp>
      <p:sp>
        <p:nvSpPr>
          <p:cNvPr id="45" name="Shape 39"/>
          <p:cNvSpPr/>
          <p:nvPr/>
        </p:nvSpPr>
        <p:spPr>
          <a:xfrm>
            <a:off x="548640" y="393192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6" name="Shape 40"/>
          <p:cNvSpPr/>
          <p:nvPr/>
        </p:nvSpPr>
        <p:spPr>
          <a:xfrm>
            <a:off x="548640" y="3931920"/>
            <a:ext cx="54864" cy="7772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7" name="Text 41"/>
          <p:cNvSpPr/>
          <p:nvPr/>
        </p:nvSpPr>
        <p:spPr>
          <a:xfrm>
            <a:off x="822960" y="39776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组件交互关系</a:t>
            </a:r>
            <a:endParaRPr lang="en-US" sz="1200" dirty="0"/>
          </a:p>
        </p:txBody>
      </p:sp>
      <p:sp>
        <p:nvSpPr>
          <p:cNvPr id="48" name="Text 42"/>
          <p:cNvSpPr/>
          <p:nvPr/>
        </p:nvSpPr>
        <p:spPr>
          <a:xfrm>
            <a:off x="822960" y="425196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A2UIRoot 作为核心枢纽：接收外部 JSON 消息 → 通过 MessageProcessor 解析为树形结构 → Renderer 将节点映射为 Vue 组件 → 通过 Context 共享状态 → 通过 Events 向上层反馈用户操作</a:t>
            </a:r>
            <a:endParaRPr lang="en-US" sz="1000" dirty="0"/>
          </a:p>
        </p:txBody>
      </p:sp>
      <p:sp>
        <p:nvSpPr>
          <p:cNvPr id="49" name="Text 43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 / 22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A2UI 核心功能模块详解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73152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846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 A2UI 组件系统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246888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05840"/>
            <a:ext cx="2468880" cy="36576"/>
          </a:xfrm>
          <a:prstGeom prst="rect">
            <a:avLst/>
          </a:prstGeom>
          <a:solidFill>
            <a:srgbClr val="02C39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143000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60120" y="11430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Schema 解析引擎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94360" y="14630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JSONL 流式解析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扁平→树形结构转换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增量更新支持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94360" y="2331720"/>
            <a:ext cx="2194560" cy="320040"/>
          </a:xfrm>
          <a:prstGeom prst="rect">
            <a:avLst/>
          </a:prstGeom>
          <a:solidFill>
            <a:srgbClr val="E6FAF5"/>
          </a:solidFill>
          <a:ln/>
        </p:spPr>
      </p:sp>
      <p:sp>
        <p:nvSpPr>
          <p:cNvPr id="12" name="Text 9"/>
          <p:cNvSpPr/>
          <p:nvPr/>
        </p:nvSpPr>
        <p:spPr>
          <a:xfrm>
            <a:off x="594360" y="2331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解析延迟 &lt; 5ms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200400" y="1005840"/>
            <a:ext cx="246888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00400" y="1005840"/>
            <a:ext cx="2468880" cy="36576"/>
          </a:xfrm>
          <a:prstGeom prst="rect">
            <a:avLst/>
          </a:prstGeom>
          <a:solidFill>
            <a:srgbClr val="1C7293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143000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703320" y="11430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动态渲染器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3337560" y="14630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Schema → Vue VNodes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组件按需加载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热更新无需刷新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3337560" y="2331720"/>
            <a:ext cx="2194560" cy="320040"/>
          </a:xfrm>
          <a:prstGeom prst="rect">
            <a:avLst/>
          </a:prstGeom>
          <a:solidFill>
            <a:srgbClr val="E6FAF5"/>
          </a:solidFill>
          <a:ln/>
        </p:spPr>
      </p:sp>
      <p:sp>
        <p:nvSpPr>
          <p:cNvPr id="19" name="Text 15"/>
          <p:cNvSpPr/>
          <p:nvPr/>
        </p:nvSpPr>
        <p:spPr>
          <a:xfrm>
            <a:off x="3337560" y="2331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首屏渲染 &lt; 50ms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5943600" y="1005840"/>
            <a:ext cx="246888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5943600" y="1005840"/>
            <a:ext cx="2468880" cy="36576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1143000"/>
            <a:ext cx="274320" cy="27432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446520" y="11430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状态管理器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6080760" y="14630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Context 共享机制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双向数据绑定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表单数据自动提取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6080760" y="2331720"/>
            <a:ext cx="2194560" cy="320040"/>
          </a:xfrm>
          <a:prstGeom prst="rect">
            <a:avLst/>
          </a:prstGeom>
          <a:solidFill>
            <a:srgbClr val="E6FAF5"/>
          </a:solidFill>
          <a:ln/>
        </p:spPr>
      </p:sp>
      <p:sp>
        <p:nvSpPr>
          <p:cNvPr id="26" name="Text 21"/>
          <p:cNvSpPr/>
          <p:nvPr/>
        </p:nvSpPr>
        <p:spPr>
          <a:xfrm>
            <a:off x="6080760" y="2331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状态同步 &lt; 10ms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457200" y="2971800"/>
            <a:ext cx="246888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457200" y="2971800"/>
            <a:ext cx="2468880" cy="36576"/>
          </a:xfrm>
          <a:prstGeom prst="rect">
            <a:avLst/>
          </a:prstGeom>
          <a:solidFill>
            <a:srgbClr val="1B2A4A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108960"/>
            <a:ext cx="274320" cy="27432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960120" y="310896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事件系统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594360" y="34290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Action 事件分发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跨组件通信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异步操作支持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594360" y="4297680"/>
            <a:ext cx="2194560" cy="320040"/>
          </a:xfrm>
          <a:prstGeom prst="rect">
            <a:avLst/>
          </a:prstGeom>
          <a:solidFill>
            <a:srgbClr val="E6FAF5"/>
          </a:solidFill>
          <a:ln/>
        </p:spPr>
      </p:sp>
      <p:sp>
        <p:nvSpPr>
          <p:cNvPr id="33" name="Text 27"/>
          <p:cNvSpPr/>
          <p:nvPr/>
        </p:nvSpPr>
        <p:spPr>
          <a:xfrm>
            <a:off x="594360" y="42976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事件响应 &lt; 3ms</a:t>
            </a:r>
            <a:endParaRPr lang="en-US" sz="1000" dirty="0"/>
          </a:p>
        </p:txBody>
      </p:sp>
      <p:sp>
        <p:nvSpPr>
          <p:cNvPr id="34" name="Shape 28"/>
          <p:cNvSpPr/>
          <p:nvPr/>
        </p:nvSpPr>
        <p:spPr>
          <a:xfrm>
            <a:off x="3200400" y="2971800"/>
            <a:ext cx="246888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29"/>
          <p:cNvSpPr/>
          <p:nvPr/>
        </p:nvSpPr>
        <p:spPr>
          <a:xfrm>
            <a:off x="3200400" y="2971800"/>
            <a:ext cx="2468880" cy="36576"/>
          </a:xfrm>
          <a:prstGeom prst="rect">
            <a:avLst/>
          </a:prstGeom>
          <a:solidFill>
            <a:srgbClr val="02C39A"/>
          </a:solidFill>
          <a:ln/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7560" y="3108960"/>
            <a:ext cx="274320" cy="274320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3703320" y="310896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组件库</a:t>
            </a:r>
            <a:endParaRPr lang="en-US" sz="1300" dirty="0"/>
          </a:p>
        </p:txBody>
      </p:sp>
      <p:sp>
        <p:nvSpPr>
          <p:cNvPr id="38" name="Text 31"/>
          <p:cNvSpPr/>
          <p:nvPr/>
        </p:nvSpPr>
        <p:spPr>
          <a:xfrm>
            <a:off x="3337560" y="34290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布局: Card/Row/Column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表单: TextField/Select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操作: Button/Link</a:t>
            </a:r>
            <a:endParaRPr lang="en-US" sz="1000" dirty="0"/>
          </a:p>
        </p:txBody>
      </p:sp>
      <p:sp>
        <p:nvSpPr>
          <p:cNvPr id="39" name="Shape 32"/>
          <p:cNvSpPr/>
          <p:nvPr/>
        </p:nvSpPr>
        <p:spPr>
          <a:xfrm>
            <a:off x="3337560" y="4297680"/>
            <a:ext cx="2194560" cy="320040"/>
          </a:xfrm>
          <a:prstGeom prst="rect">
            <a:avLst/>
          </a:prstGeom>
          <a:solidFill>
            <a:srgbClr val="E6FAF5"/>
          </a:solidFill>
          <a:ln/>
        </p:spPr>
      </p:sp>
      <p:sp>
        <p:nvSpPr>
          <p:cNvPr id="40" name="Text 33"/>
          <p:cNvSpPr/>
          <p:nvPr/>
        </p:nvSpPr>
        <p:spPr>
          <a:xfrm>
            <a:off x="3337560" y="42976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30+ 基础组件</a:t>
            </a:r>
            <a:endParaRPr lang="en-US" sz="1000" dirty="0"/>
          </a:p>
        </p:txBody>
      </p:sp>
      <p:sp>
        <p:nvSpPr>
          <p:cNvPr id="41" name="Shape 34"/>
          <p:cNvSpPr/>
          <p:nvPr/>
        </p:nvSpPr>
        <p:spPr>
          <a:xfrm>
            <a:off x="5943600" y="2971800"/>
            <a:ext cx="246888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2" name="Shape 35"/>
          <p:cNvSpPr/>
          <p:nvPr/>
        </p:nvSpPr>
        <p:spPr>
          <a:xfrm>
            <a:off x="5943600" y="2971800"/>
            <a:ext cx="2468880" cy="36576"/>
          </a:xfrm>
          <a:prstGeom prst="rect">
            <a:avLst/>
          </a:prstGeom>
          <a:solidFill>
            <a:srgbClr val="1C7293"/>
          </a:solidFill>
          <a:ln/>
        </p:spPr>
      </p:sp>
      <p:pic>
        <p:nvPicPr>
          <p:cNvPr id="4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0760" y="3108960"/>
            <a:ext cx="274320" cy="274320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6446520" y="310896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Playground</a:t>
            </a:r>
            <a:endParaRPr lang="en-US" sz="1300" dirty="0"/>
          </a:p>
        </p:txBody>
      </p:sp>
      <p:sp>
        <p:nvSpPr>
          <p:cNvPr id="45" name="Text 37"/>
          <p:cNvSpPr/>
          <p:nvPr/>
        </p:nvSpPr>
        <p:spPr>
          <a:xfrm>
            <a:off x="6080760" y="34290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实时 Schema 编辑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所见即所得预览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调试工具集成</a:t>
            </a:r>
            <a:endParaRPr lang="en-US" sz="1000" dirty="0"/>
          </a:p>
        </p:txBody>
      </p:sp>
      <p:sp>
        <p:nvSpPr>
          <p:cNvPr id="46" name="Shape 38"/>
          <p:cNvSpPr/>
          <p:nvPr/>
        </p:nvSpPr>
        <p:spPr>
          <a:xfrm>
            <a:off x="6080760" y="4297680"/>
            <a:ext cx="2194560" cy="320040"/>
          </a:xfrm>
          <a:prstGeom prst="rect">
            <a:avLst/>
          </a:prstGeom>
          <a:solidFill>
            <a:srgbClr val="E6FAF5"/>
          </a:solidFill>
          <a:ln/>
        </p:spPr>
      </p:sp>
      <p:sp>
        <p:nvSpPr>
          <p:cNvPr id="47" name="Text 39"/>
          <p:cNvSpPr/>
          <p:nvPr/>
        </p:nvSpPr>
        <p:spPr>
          <a:xfrm>
            <a:off x="6080760" y="42976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在线即用</a:t>
            </a:r>
            <a:endParaRPr lang="en-US" sz="1000" dirty="0"/>
          </a:p>
        </p:txBody>
      </p:sp>
      <p:sp>
        <p:nvSpPr>
          <p:cNvPr id="48" name="Text 40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 / 22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JSON Schema 驱动的 UI 渲染机制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73152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846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 A2UI 组件系统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38404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005840"/>
            <a:ext cx="3840480" cy="3657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0972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渲染流程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1463040"/>
            <a:ext cx="347472" cy="34747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463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80160" y="144475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珊瑚系统输出 JSON Schema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22960" y="1737360"/>
            <a:ext cx="347472" cy="34747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1737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80160" y="171907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A2UIRoot 解析为树形结构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22960" y="2011680"/>
            <a:ext cx="347472" cy="34747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20116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80160" y="19933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Renderer 映射 Vue VNodes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22960" y="2286000"/>
            <a:ext cx="347472" cy="34747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22860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80160" y="226771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用户交互 → Action 事件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1005840"/>
            <a:ext cx="38404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1005840"/>
            <a:ext cx="384048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0" y="10972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组件类型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029200" y="1463040"/>
            <a:ext cx="640080" cy="201168"/>
          </a:xfrm>
          <a:prstGeom prst="rect">
            <a:avLst/>
          </a:prstGeom>
          <a:solidFill>
            <a:srgbClr val="02C39A">
              <a:alpha val="2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0" y="146304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布局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760720" y="146304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Card / Column / Row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029200" y="1737360"/>
            <a:ext cx="640080" cy="201168"/>
          </a:xfrm>
          <a:prstGeom prst="rect">
            <a:avLst/>
          </a:prstGeom>
          <a:solidFill>
            <a:srgbClr val="02C39A">
              <a:alpha val="2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0" y="173736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表单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760720" y="173736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TextField / SelectField / ChoicePicker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029200" y="2011680"/>
            <a:ext cx="640080" cy="201168"/>
          </a:xfrm>
          <a:prstGeom prst="rect">
            <a:avLst/>
          </a:prstGeom>
          <a:solidFill>
            <a:srgbClr val="02C39A">
              <a:alpha val="2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0" y="201168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操作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760720" y="201168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Button 触发 action 事件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48640" y="2560320"/>
            <a:ext cx="457200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48640" y="2560320"/>
            <a:ext cx="54864" cy="21945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5" name="Shape 33"/>
          <p:cNvSpPr/>
          <p:nvPr/>
        </p:nvSpPr>
        <p:spPr>
          <a:xfrm>
            <a:off x="603504" y="2560320"/>
            <a:ext cx="4462272" cy="3200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4"/>
          <p:cNvSpPr/>
          <p:nvPr/>
        </p:nvSpPr>
        <p:spPr>
          <a:xfrm>
            <a:off x="822960" y="25786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JSON Schema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31520" y="2926080"/>
            <a:ext cx="4114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A2UI 表单 Schema 定义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"type": "Card",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"props":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"title": "运维工单"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"children": [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"type": "TextField",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"props":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"label": "问题描述",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"field": "desc"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"type": "Button",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"props": { "label": "提交",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"action": "submit" }}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120640" y="2560320"/>
            <a:ext cx="347472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120640" y="2560320"/>
            <a:ext cx="54864" cy="21945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0" name="Text 38"/>
          <p:cNvSpPr/>
          <p:nvPr/>
        </p:nvSpPr>
        <p:spPr>
          <a:xfrm>
            <a:off x="5394960" y="26517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Schema → UI 对应关系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394960" y="3017520"/>
            <a:ext cx="1463040" cy="201168"/>
          </a:xfrm>
          <a:prstGeom prst="rect">
            <a:avLst/>
          </a:prstGeom>
          <a:solidFill>
            <a:srgbClr val="E0F0FA"/>
          </a:solidFill>
          <a:ln/>
        </p:spPr>
      </p:sp>
      <p:sp>
        <p:nvSpPr>
          <p:cNvPr id="42" name="Text 40"/>
          <p:cNvSpPr/>
          <p:nvPr/>
        </p:nvSpPr>
        <p:spPr>
          <a:xfrm>
            <a:off x="5394960" y="301752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"type": "Card"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903720" y="3017520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178040" y="301752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卡片容器组件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394960" y="3291840"/>
            <a:ext cx="1463040" cy="201168"/>
          </a:xfrm>
          <a:prstGeom prst="rect">
            <a:avLst/>
          </a:prstGeom>
          <a:solidFill>
            <a:srgbClr val="E0F0FA"/>
          </a:solidFill>
          <a:ln/>
        </p:spPr>
      </p:sp>
      <p:sp>
        <p:nvSpPr>
          <p:cNvPr id="46" name="Text 44"/>
          <p:cNvSpPr/>
          <p:nvPr/>
        </p:nvSpPr>
        <p:spPr>
          <a:xfrm>
            <a:off x="5394960" y="32918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"type": "TextField"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903720" y="3291840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178040" y="329184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文本输入框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394960" y="3566160"/>
            <a:ext cx="1463040" cy="201168"/>
          </a:xfrm>
          <a:prstGeom prst="rect">
            <a:avLst/>
          </a:prstGeom>
          <a:solidFill>
            <a:srgbClr val="E0F0FA"/>
          </a:solidFill>
          <a:ln/>
        </p:spPr>
      </p:sp>
      <p:sp>
        <p:nvSpPr>
          <p:cNvPr id="50" name="Text 48"/>
          <p:cNvSpPr/>
          <p:nvPr/>
        </p:nvSpPr>
        <p:spPr>
          <a:xfrm>
            <a:off x="5394960" y="356616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"type": "Button"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903720" y="3566160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7178040" y="356616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操作按钮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394960" y="3840480"/>
            <a:ext cx="1463040" cy="201168"/>
          </a:xfrm>
          <a:prstGeom prst="rect">
            <a:avLst/>
          </a:prstGeom>
          <a:solidFill>
            <a:srgbClr val="E0F0FA"/>
          </a:solidFill>
          <a:ln/>
        </p:spPr>
      </p:sp>
      <p:sp>
        <p:nvSpPr>
          <p:cNvPr id="54" name="Text 52"/>
          <p:cNvSpPr/>
          <p:nvPr/>
        </p:nvSpPr>
        <p:spPr>
          <a:xfrm>
            <a:off x="5394960" y="384048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"props.title"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6903720" y="3840480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7178040" y="384048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卡片标题栏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5394960" y="4114800"/>
            <a:ext cx="1463040" cy="201168"/>
          </a:xfrm>
          <a:prstGeom prst="rect">
            <a:avLst/>
          </a:prstGeom>
          <a:solidFill>
            <a:srgbClr val="E0F0FA"/>
          </a:solidFill>
          <a:ln/>
        </p:spPr>
      </p:sp>
      <p:sp>
        <p:nvSpPr>
          <p:cNvPr id="58" name="Text 56"/>
          <p:cNvSpPr/>
          <p:nvPr/>
        </p:nvSpPr>
        <p:spPr>
          <a:xfrm>
            <a:off x="5394960" y="411480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"props.field"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6903720" y="4114800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7178040" y="411480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数据绑定字段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5394960" y="4389120"/>
            <a:ext cx="1463040" cy="201168"/>
          </a:xfrm>
          <a:prstGeom prst="rect">
            <a:avLst/>
          </a:prstGeom>
          <a:solidFill>
            <a:srgbClr val="E0F0FA"/>
          </a:solidFill>
          <a:ln/>
        </p:spPr>
      </p:sp>
      <p:sp>
        <p:nvSpPr>
          <p:cNvPr id="62" name="Text 60"/>
          <p:cNvSpPr/>
          <p:nvPr/>
        </p:nvSpPr>
        <p:spPr>
          <a:xfrm>
            <a:off x="5394960" y="438912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"props.action"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6903720" y="4389120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7178040" y="438912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点击事件处理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 / 22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A2UI Playground 实时预览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73152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846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 A2UI 组件系统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53035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097280"/>
            <a:ext cx="5120640" cy="32918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035040" y="1005840"/>
            <a:ext cx="29260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035040" y="1005840"/>
            <a:ext cx="292608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0" name="Text 7"/>
          <p:cNvSpPr/>
          <p:nvPr/>
        </p:nvSpPr>
        <p:spPr>
          <a:xfrm>
            <a:off x="6309360" y="11430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功能说明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309360" y="1463040"/>
            <a:ext cx="24688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功能名称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A2UI 交互式 Playground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操作流程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1. 在左侧编辑 JSON Schema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2. 右侧实时预览渲染结果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3. 修改即时生效，所见即所得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核心技术点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JSON Schema 实时解析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Vue 组件动态挂载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增量更新渲染引擎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应用场景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开发调试、Schema 验证、组件测试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 / 22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A2UI 应用场景：桌面端实践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73152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846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 A2UI 组件系统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402336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05840"/>
            <a:ext cx="402336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0972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工单提交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14630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识别工单类型后，珊瑚系统输出 JSON Schema，A2UI 实时渲染为工单填写表单，用户在对话中直接提交</a:t>
            </a:r>
            <a:endParaRPr lang="en-US" sz="10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2103120"/>
            <a:ext cx="3657600" cy="237744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663440" y="1005840"/>
            <a:ext cx="402336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63440" y="1005840"/>
            <a:ext cx="4023360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3" name="Text 10"/>
          <p:cNvSpPr/>
          <p:nvPr/>
        </p:nvSpPr>
        <p:spPr>
          <a:xfrm>
            <a:off x="4937760" y="10972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网络权限申请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937760" y="14630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解析权限申请需求，珊瑚系统生成对应 Schema，A2UI 渲染为权限申请表单，包含审批流程</a:t>
            </a:r>
            <a:endParaRPr lang="en-US" sz="10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846320" y="2103120"/>
            <a:ext cx="3657600" cy="23774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 / 22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286000"/>
            <a:ext cx="137160" cy="10972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2C39A">
                    <a:alpha val="70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22860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传统实现 vs A2UI 方案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2926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对比分析、效率提升与性能优化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9144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传统实现方式分析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73152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846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 传统实现 vs A2UI 方案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384048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005840"/>
            <a:ext cx="3840480" cy="3657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0972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完整技术流程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1463040"/>
            <a:ext cx="3383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1. 产品出需求文档 → 设计出交互稿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2. 前端编写 Vue 模板 + 样式 + 逻辑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3. 后端开发接口 + 数据模型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4. 前后端联调 + 测试 + 修复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5. 部署上线 + 验证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005840"/>
            <a:ext cx="384048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005840"/>
            <a:ext cx="384048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10972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技术栈与成本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0" y="1463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技术栈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217920" y="14630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Vue + Element Plus + API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0" y="18288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开发周期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217920" y="18288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2-4 周/功能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0" y="21945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维护成本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17920" y="2194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高（硬编码表单）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0" y="25603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技术难点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217920" y="25603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动态表单、状态管理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3383280"/>
            <a:ext cx="80467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8640" y="3383280"/>
            <a:ext cx="54864" cy="10972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3474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核心痛点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22960" y="37947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表单硬编码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22960" y="40233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每个业务场景需单独开发表单组件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834640" y="37947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迭代缓慢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834640" y="40233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需求变更需修改代码、重新打包部署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46320" y="37947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维护困难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46320" y="40233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表单逻辑分散，难以统一管理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858000" y="37947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难集成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858000" y="40233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静态界面无法承载 AI 动态输出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 / 22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A2UI 集成方案优势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73152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846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 传统实现 vs A2UI 方案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384048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005840"/>
            <a:ext cx="384048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0972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架构改进点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1463040"/>
            <a:ext cx="3383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JSON Schema 替代 Vue 模板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珊瑚系统统一生成 JSON 数据流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运行时动态渲染，无需打包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统一 Schema 标准，集中管理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对话即界面，界面即对话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005840"/>
            <a:ext cx="384048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005840"/>
            <a:ext cx="384048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10972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量化提升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29200" y="1463040"/>
            <a:ext cx="3383280" cy="320040"/>
          </a:xfrm>
          <a:prstGeom prst="rect">
            <a:avLst/>
          </a:prstGeom>
          <a:solidFill>
            <a:srgbClr val="E6FAF5"/>
          </a:solidFill>
          <a:ln/>
        </p:spPr>
      </p:sp>
      <p:sp>
        <p:nvSpPr>
          <p:cNvPr id="14" name="Text 12"/>
          <p:cNvSpPr/>
          <p:nvPr/>
        </p:nvSpPr>
        <p:spPr>
          <a:xfrm>
            <a:off x="5120640" y="14630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开发效率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92240" y="1463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提升 70%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0" y="1874520"/>
            <a:ext cx="3383280" cy="32004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7" name="Text 15"/>
          <p:cNvSpPr/>
          <p:nvPr/>
        </p:nvSpPr>
        <p:spPr>
          <a:xfrm>
            <a:off x="5120640" y="18745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表单开发周期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92240" y="1874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2-4周 → 1-3天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0" y="2286000"/>
            <a:ext cx="3383280" cy="32004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0" name="Text 18"/>
          <p:cNvSpPr/>
          <p:nvPr/>
        </p:nvSpPr>
        <p:spPr>
          <a:xfrm>
            <a:off x="5120640" y="22860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首屏渲染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92240" y="22860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&lt; 50ms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0" y="2697480"/>
            <a:ext cx="3383280" cy="32004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3" name="Text 21"/>
          <p:cNvSpPr/>
          <p:nvPr/>
        </p:nvSpPr>
        <p:spPr>
          <a:xfrm>
            <a:off x="5120640" y="26974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用户体验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92240" y="2697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对话式交互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3383280"/>
            <a:ext cx="80467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22960" y="34747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对比总结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22960" y="3749040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维度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383280" y="3749040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传统实现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943600" y="3749040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A2UI 方案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2960" y="3904488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开发方式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383280" y="3904488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Vue 模板硬编码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943600" y="3904488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JSON Schema 动态定义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822960" y="4059936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开发周期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383280" y="4059936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2-4 周/功能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943600" y="4059936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1-3 天/功能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22960" y="4215384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集成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383280" y="4215384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需额外开发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943600" y="4215384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原生支持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822960" y="4370832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维护成本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383280" y="4370832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高（分散管理）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943600" y="4370832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低（统一 Schema）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 / 22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286000"/>
            <a:ext cx="137160" cy="10972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2C39A">
                    <a:alpha val="70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22860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桌面端也是从 0 到 1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2926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辅助下，从零开始、在不了解相关技术的情况下完成开发</a:t>
            </a:r>
            <a:endParaRPr lang="en-US" sz="1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9144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项目背景与架构概览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73152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846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 桌面端也是从 0 到 1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384048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005840"/>
            <a:ext cx="3840480" cy="3657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0972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运维痛点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155448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大量重复性事务消耗运维人力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问题排查依赖经验，知识难以沉淀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缺乏统一入口，信息孤岛严重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005840"/>
            <a:ext cx="384048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005840"/>
            <a:ext cx="384048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10972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技术选型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29200" y="15087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Vue 3 + Vite 6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675120" y="150876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响应式框架 + 极速构建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0" y="17830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Electron 41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675120" y="178308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跨平台 + 原生能力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29200" y="20574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A2UI Engine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675120" y="20574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动态渲染 + AI 集成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29200" y="23317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Pinia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675120" y="23317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轻量级状态管理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029200" y="26060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WebSocket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675120" y="260604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实时双向通信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8640" y="3246120"/>
            <a:ext cx="80467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8640" y="3246120"/>
            <a:ext cx="8046720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33375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核心功能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22960" y="3657600"/>
            <a:ext cx="1828800" cy="594360"/>
          </a:xfrm>
          <a:prstGeom prst="rect">
            <a:avLst/>
          </a:prstGeom>
          <a:solidFill>
            <a:srgbClr val="E6FAF5"/>
          </a:solidFill>
          <a:ln/>
        </p:spPr>
      </p:sp>
      <p:sp>
        <p:nvSpPr>
          <p:cNvPr id="27" name="Text 25"/>
          <p:cNvSpPr/>
          <p:nvPr/>
        </p:nvSpPr>
        <p:spPr>
          <a:xfrm>
            <a:off x="914400" y="367588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智能聊天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14400" y="39502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实时对话 + A2UI 表单嵌入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834640" y="3657600"/>
            <a:ext cx="1828800" cy="594360"/>
          </a:xfrm>
          <a:prstGeom prst="rect">
            <a:avLst/>
          </a:prstGeom>
          <a:solidFill>
            <a:srgbClr val="E6FAF5"/>
          </a:solidFill>
          <a:ln/>
        </p:spPr>
      </p:sp>
      <p:sp>
        <p:nvSpPr>
          <p:cNvPr id="30" name="Text 28"/>
          <p:cNvSpPr/>
          <p:nvPr/>
        </p:nvSpPr>
        <p:spPr>
          <a:xfrm>
            <a:off x="2926080" y="367588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会话管理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926080" y="39502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全生命周期管理 + 状态追踪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846320" y="3657600"/>
            <a:ext cx="1828800" cy="594360"/>
          </a:xfrm>
          <a:prstGeom prst="rect">
            <a:avLst/>
          </a:prstGeom>
          <a:solidFill>
            <a:srgbClr val="E6FAF5"/>
          </a:solidFill>
          <a:ln/>
        </p:spPr>
      </p:sp>
      <p:sp>
        <p:nvSpPr>
          <p:cNvPr id="33" name="Text 31"/>
          <p:cNvSpPr/>
          <p:nvPr/>
        </p:nvSpPr>
        <p:spPr>
          <a:xfrm>
            <a:off x="4937760" y="367588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悬浮球与托盘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937760" y="39502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置顶悬浮球 + 系统托盘集成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858000" y="3657600"/>
            <a:ext cx="1828800" cy="594360"/>
          </a:xfrm>
          <a:prstGeom prst="rect">
            <a:avLst/>
          </a:prstGeom>
          <a:solidFill>
            <a:srgbClr val="E6FAF5"/>
          </a:solidFill>
          <a:ln/>
        </p:spPr>
      </p:sp>
      <p:sp>
        <p:nvSpPr>
          <p:cNvPr id="36" name="Text 34"/>
          <p:cNvSpPr/>
          <p:nvPr/>
        </p:nvSpPr>
        <p:spPr>
          <a:xfrm>
            <a:off x="6949440" y="367588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A2UI 动态渲染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949440" y="39502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JSON Schema 驱动 + 零代码扩展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13 / 22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从零开始：需求分析与技术探索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73152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846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 桌面端也是从 0 到 1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384048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005840"/>
            <a:ext cx="3840480" cy="3657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0972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需求分析思考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1463040"/>
            <a:ext cx="3383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65A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运维人员需要什么样的 AI 助手？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自然语言交互，降低使用门槛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65A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如何让 AI 输出可交互的界面？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A2UI 引擎，JSON Schema → UI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65A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桌面端还是 Web 端？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桌面端：悬浮球、托盘、原生能力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005840"/>
            <a:ext cx="384048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005840"/>
            <a:ext cx="384048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10972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辅助从零开始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0" y="1463040"/>
            <a:ext cx="3383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在不了解 Electron 的情况下：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指导项目初始化和窗口管理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生成 IPC 通信和 preload 脚本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在不了解 A2UI 的情况下：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辅助集成 A2UI 引擎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帮助调试样式隔离和数据绑定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474720"/>
            <a:ext cx="80467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2960" y="3566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从需求到交付的完整流程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22960" y="3886200"/>
            <a:ext cx="1097280" cy="365760"/>
          </a:xfrm>
          <a:prstGeom prst="roundRect">
            <a:avLst>
              <a:gd name="adj" fmla="val 12500"/>
            </a:avLst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8862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需求理解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920240" y="388620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148840" y="3886200"/>
            <a:ext cx="1097280" cy="365760"/>
          </a:xfrm>
          <a:prstGeom prst="roundRect">
            <a:avLst>
              <a:gd name="adj" fmla="val 12500"/>
            </a:avLst>
          </a:prstGeom>
          <a:solidFill>
            <a:srgbClr val="02C39A"/>
          </a:solidFill>
          <a:ln/>
        </p:spPr>
      </p:sp>
      <p:sp>
        <p:nvSpPr>
          <p:cNvPr id="20" name="Text 18"/>
          <p:cNvSpPr/>
          <p:nvPr/>
        </p:nvSpPr>
        <p:spPr>
          <a:xfrm>
            <a:off x="2148840" y="38862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辅助学习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246120" y="388620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474720" y="3886200"/>
            <a:ext cx="1097280" cy="365760"/>
          </a:xfrm>
          <a:prstGeom prst="roundRect">
            <a:avLst>
              <a:gd name="adj" fmla="val 12500"/>
            </a:avLst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3474720" y="38862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架构设计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0" y="388620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00600" y="3886200"/>
            <a:ext cx="1097280" cy="365760"/>
          </a:xfrm>
          <a:prstGeom prst="roundRect">
            <a:avLst>
              <a:gd name="adj" fmla="val 12500"/>
            </a:avLst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4800600" y="38862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原型开发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897880" y="388620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26480" y="3886200"/>
            <a:ext cx="1097280" cy="365760"/>
          </a:xfrm>
          <a:prstGeom prst="roundRect">
            <a:avLst>
              <a:gd name="adj" fmla="val 12500"/>
            </a:avLst>
          </a:prstGeom>
          <a:solidFill>
            <a:srgbClr val="065A82"/>
          </a:solidFill>
          <a:ln/>
        </p:spPr>
      </p:sp>
      <p:sp>
        <p:nvSpPr>
          <p:cNvPr id="29" name="Text 27"/>
          <p:cNvSpPr/>
          <p:nvPr/>
        </p:nvSpPr>
        <p:spPr>
          <a:xfrm>
            <a:off x="6126480" y="38862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迭代优化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223760" y="388620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452360" y="3886200"/>
            <a:ext cx="1097280" cy="365760"/>
          </a:xfrm>
          <a:prstGeom prst="roundRect">
            <a:avLst>
              <a:gd name="adj" fmla="val 12500"/>
            </a:avLst>
          </a:prstGeom>
          <a:solidFill>
            <a:srgbClr val="065A82"/>
          </a:solidFill>
          <a:ln/>
        </p:spPr>
      </p:sp>
      <p:sp>
        <p:nvSpPr>
          <p:cNvPr id="32" name="Text 30"/>
          <p:cNvSpPr/>
          <p:nvPr/>
        </p:nvSpPr>
        <p:spPr>
          <a:xfrm>
            <a:off x="7452360" y="38862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交付上线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14 / 22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关键技术突破与经验教训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73152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846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 桌面端也是从 0 到 1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804672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005840"/>
            <a:ext cx="54864" cy="74980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1188720"/>
            <a:ext cx="347472" cy="34747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1887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71600" y="105156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A2UI 样式隔离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71600" y="132588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难点：A2UI 组件样式被全局覆盖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方案：::v-deep 精确覆盖 + A2UIForm 统一管理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1874520"/>
            <a:ext cx="804672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1874520"/>
            <a:ext cx="54864" cy="7498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2057400"/>
            <a:ext cx="347472" cy="34747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20574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371600" y="192024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悬浮球窗口管理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71600" y="219456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难点：多窗口协调、置顶、拖拽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方案：独立 BrowserWindow + IPC + 持久化位置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2743200"/>
            <a:ext cx="804672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2743200"/>
            <a:ext cx="54864" cy="7498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2926080"/>
            <a:ext cx="347472" cy="34747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2926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371600" y="278892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消息数据解析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71600" y="306324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难点：后端多种消息格式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方案：统一 parseMessageContent 混合解析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3611880"/>
            <a:ext cx="804672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48640" y="3611880"/>
            <a:ext cx="54864" cy="74980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6" name="Shape 24"/>
          <p:cNvSpPr/>
          <p:nvPr/>
        </p:nvSpPr>
        <p:spPr>
          <a:xfrm>
            <a:off x="822960" y="3794760"/>
            <a:ext cx="347472" cy="347472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37947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371600" y="365760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跨进程通信安全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371600" y="393192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难点：Electron 安全策略限制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方案：preload 白名单 + contextIsolation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15 / 22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开发周期与资源投入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73152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846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 桌面端也是从 0 到 1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80467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005840"/>
            <a:ext cx="8046720" cy="3657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097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开发周期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1463040"/>
            <a:ext cx="1783080" cy="731520"/>
          </a:xfrm>
          <a:prstGeom prst="rect">
            <a:avLst/>
          </a:prstGeom>
          <a:solidFill>
            <a:srgbClr val="02C39A">
              <a:alpha val="1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822960" y="1463040"/>
            <a:ext cx="54864" cy="7315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148132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第1-2周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17373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架构设计 + A2UI 集成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88920" y="1463040"/>
            <a:ext cx="1783080" cy="731520"/>
          </a:xfrm>
          <a:prstGeom prst="rect">
            <a:avLst/>
          </a:prstGeom>
          <a:solidFill>
            <a:srgbClr val="1C7293">
              <a:alpha val="1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788920" y="1463040"/>
            <a:ext cx="54864" cy="7315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2926080" y="148132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第3-4周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926080" y="17373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核心功能开发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1463040"/>
            <a:ext cx="1783080" cy="731520"/>
          </a:xfrm>
          <a:prstGeom prst="rect">
            <a:avLst/>
          </a:prstGeom>
          <a:solidFill>
            <a:srgbClr val="065A82">
              <a:alpha val="1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4754880" y="1463040"/>
            <a:ext cx="54864" cy="7315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9" name="Text 17"/>
          <p:cNvSpPr/>
          <p:nvPr/>
        </p:nvSpPr>
        <p:spPr>
          <a:xfrm>
            <a:off x="4892040" y="148132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第5-6周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92040" y="17373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桌面端适配 + 优化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720840" y="1463040"/>
            <a:ext cx="1783080" cy="731520"/>
          </a:xfrm>
          <a:prstGeom prst="rect">
            <a:avLst/>
          </a:prstGeom>
          <a:solidFill>
            <a:srgbClr val="1B2A4A">
              <a:alpha val="1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720840" y="1463040"/>
            <a:ext cx="54864" cy="7315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0" y="148132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第7-8周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58000" y="17373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 + 部署上线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2697480"/>
            <a:ext cx="38404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48640" y="2697480"/>
            <a:ext cx="384048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27889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资源投入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22960" y="31546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开发团队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194560" y="31546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 人（AI 辅助）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22960" y="34290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开发周期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194560" y="34290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 周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22960" y="37033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辅助占比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194560" y="37033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约 60%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22960" y="39776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代码行数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194560" y="39776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~15,000 行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54880" y="2697480"/>
            <a:ext cx="38404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54880" y="2697480"/>
            <a:ext cx="3840480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8" name="Text 36"/>
          <p:cNvSpPr/>
          <p:nvPr/>
        </p:nvSpPr>
        <p:spPr>
          <a:xfrm>
            <a:off x="5029200" y="27889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辅助开发成效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029200" y="31546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3-5x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5029200" y="34747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代码生成速度提升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858000" y="31546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60%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6858000" y="34747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辅助开发占比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029200" y="37947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8周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5029200" y="41148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从零到交付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858000" y="37947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1人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6858000" y="41148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完成完整桌面应用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16 / 22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A2UI 成果展示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73152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846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 桌面端也是从 0 到 1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40233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05840"/>
            <a:ext cx="402336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0972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海豚桌面端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1371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A2UI 在桌面端的应用：工单提交 + 网络权限申请</a:t>
            </a:r>
            <a:endParaRPr lang="en-US" sz="10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737360"/>
            <a:ext cx="3657600" cy="256032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663440" y="100584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63440" y="1005840"/>
            <a:ext cx="4023360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3" name="Text 10"/>
          <p:cNvSpPr/>
          <p:nvPr/>
        </p:nvSpPr>
        <p:spPr>
          <a:xfrm>
            <a:off x="4937760" y="10972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辛顿 · 海豚 Web 端</a:t>
            </a:r>
            <a:endParaRPr lang="en-US" sz="14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846320" y="1417320"/>
            <a:ext cx="1828800" cy="1097280"/>
          </a:xfrm>
          <a:prstGeom prst="rect">
            <a:avLst/>
          </a:prstGeom>
        </p:spPr>
      </p:pic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766560" y="1417320"/>
            <a:ext cx="1828800" cy="109728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4663440" y="283464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4663440" y="2834640"/>
            <a:ext cx="4023360" cy="3657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8" name="Text 13"/>
          <p:cNvSpPr/>
          <p:nvPr/>
        </p:nvSpPr>
        <p:spPr>
          <a:xfrm>
            <a:off x="4937760" y="29260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A2UI 核心成果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5029200" y="3291840"/>
            <a:ext cx="137160" cy="1371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0" name="Text 15"/>
          <p:cNvSpPr/>
          <p:nvPr/>
        </p:nvSpPr>
        <p:spPr>
          <a:xfrm>
            <a:off x="5303520" y="32461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桌面端 + Web 端双平台 A2UI 集成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5029200" y="3547872"/>
            <a:ext cx="137160" cy="1371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2" name="Text 17"/>
          <p:cNvSpPr/>
          <p:nvPr/>
        </p:nvSpPr>
        <p:spPr>
          <a:xfrm>
            <a:off x="5303520" y="350215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工单提交、网络权限申请场景落地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5029200" y="3803904"/>
            <a:ext cx="137160" cy="1371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4" name="Text 19"/>
          <p:cNvSpPr/>
          <p:nvPr/>
        </p:nvSpPr>
        <p:spPr>
          <a:xfrm>
            <a:off x="5303520" y="375818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珊瑚系统 JSON 数据流 → A2UI 渲染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5029200" y="4059936"/>
            <a:ext cx="137160" cy="1371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6" name="Text 21"/>
          <p:cNvSpPr/>
          <p:nvPr/>
        </p:nvSpPr>
        <p:spPr>
          <a:xfrm>
            <a:off x="5303520" y="401421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从零开始，AI 辅助 8 周完成交付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17 / 22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286000"/>
            <a:ext cx="137160" cy="10972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2C39A">
                    <a:alpha val="70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22860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总结与展望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2926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技术演进与未来思考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9144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技术演进与未来思考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73152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846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 总结与展望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246888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05840"/>
            <a:ext cx="2468880" cy="36576"/>
          </a:xfrm>
          <a:prstGeom prst="rect">
            <a:avLst/>
          </a:prstGeom>
          <a:solidFill>
            <a:srgbClr val="02C39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18872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05840" y="11887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A2UI 技术演进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94360" y="1645920"/>
            <a:ext cx="2194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原生 UI：AI 直接生成界面，无需人工编码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JSON Schema 成为 AI 应用标准交互方式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组件库持续扩展，覆盖更多业务场景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00400" y="1005840"/>
            <a:ext cx="246888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00400" y="1005840"/>
            <a:ext cx="2468880" cy="36576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18872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749040" y="11887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辅助开发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337560" y="1645920"/>
            <a:ext cx="2194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从代码生成走向架构设计辅助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即使不了解技术也能完成开发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协作能力成为核心竞争力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943600" y="1005840"/>
            <a:ext cx="246888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943600" y="1005840"/>
            <a:ext cx="2468880" cy="36576"/>
          </a:xfrm>
          <a:prstGeom prst="rect">
            <a:avLst/>
          </a:prstGeom>
          <a:solidFill>
            <a:srgbClr val="1C7293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1188720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92240" y="11887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个人成长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080760" y="1645920"/>
            <a:ext cx="2194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从代码实现者向架构设计者转变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提升 AI 协作能力，成为超级个体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持续学习，保持行业敏感度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19 / 22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0" y="2560320"/>
            <a:ext cx="182880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感谢聆听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914400" y="28346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Q &amp; 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14400" y="3840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AIT Center  | 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海豚 - 运维智能助手桌面端</dc:title>
  <dc:subject>PptxGenJS Presentation</dc:subject>
  <dc:creator>AIT Center</dc:creator>
  <cp:lastModifiedBy>AIT Center</cp:lastModifiedBy>
  <cp:revision>1</cp:revision>
  <dcterms:created xsi:type="dcterms:W3CDTF">2026-05-09T02:11:05Z</dcterms:created>
  <dcterms:modified xsi:type="dcterms:W3CDTF">2026-05-09T02:11:05Z</dcterms:modified>
</cp:coreProperties>
</file>